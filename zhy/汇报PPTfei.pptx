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tags/tag13.xml" ContentType="application/vnd.openxmlformats-officedocument.presentationml.tags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22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51.xml" ContentType="application/vnd.openxmlformats-officedocument.presentationml.tags+xml"/>
  <Override PartName="/ppt/notesSlides/notesSlide26.xml" ContentType="application/vnd.openxmlformats-officedocument.presentationml.notesSlide+xml"/>
  <Override PartName="/ppt/tags/tag52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29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30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31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</p:sldMasterIdLst>
  <p:notesMasterIdLst>
    <p:notesMasterId r:id="rId35"/>
  </p:notesMasterIdLst>
  <p:sldIdLst>
    <p:sldId id="256" r:id="rId3"/>
    <p:sldId id="283" r:id="rId4"/>
    <p:sldId id="257" r:id="rId5"/>
    <p:sldId id="284" r:id="rId6"/>
    <p:sldId id="341" r:id="rId7"/>
    <p:sldId id="338" r:id="rId8"/>
    <p:sldId id="261" r:id="rId9"/>
    <p:sldId id="299" r:id="rId10"/>
    <p:sldId id="342" r:id="rId11"/>
    <p:sldId id="343" r:id="rId12"/>
    <p:sldId id="344" r:id="rId13"/>
    <p:sldId id="339" r:id="rId14"/>
    <p:sldId id="340" r:id="rId15"/>
    <p:sldId id="264" r:id="rId16"/>
    <p:sldId id="288" r:id="rId17"/>
    <p:sldId id="345" r:id="rId18"/>
    <p:sldId id="346" r:id="rId19"/>
    <p:sldId id="315" r:id="rId20"/>
    <p:sldId id="322" r:id="rId21"/>
    <p:sldId id="323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333" r:id="rId30"/>
    <p:sldId id="334" r:id="rId31"/>
    <p:sldId id="335" r:id="rId32"/>
    <p:sldId id="336" r:id="rId33"/>
    <p:sldId id="307" r:id="rId34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3358E"/>
    <a:srgbClr val="C52A2E"/>
    <a:srgbClr val="5F5F5F"/>
    <a:srgbClr val="E2E3EA"/>
    <a:srgbClr val="D99694"/>
    <a:srgbClr val="2974FA"/>
    <a:srgbClr val="953735"/>
    <a:srgbClr val="750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45D5F7-0F8A-49D9-BE6A-C54F4FC082F8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4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4" autoAdjust="0"/>
    <p:restoredTop sz="94660"/>
  </p:normalViewPr>
  <p:slideViewPr>
    <p:cSldViewPr>
      <p:cViewPr>
        <p:scale>
          <a:sx n="66" d="100"/>
          <a:sy n="66" d="100"/>
        </p:scale>
        <p:origin x="351" y="73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CDC21-02B5-4DA2-9E37-54A8FA2BF569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AA76C2-5A4E-40EC-A96D-2FB86DA810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8F710-468B-56FC-CAF8-30F3DABC9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3D78A7-9E14-3D69-DBBD-31888CB2D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D23067F-B0F6-EC9E-8294-1A2CB73A2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65ECBF-939D-8C28-4649-FA97371347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AA76C2-5A4E-40EC-A96D-2FB86DA8101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1638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AA76C2-5A4E-40EC-A96D-2FB86DA8101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27EEA-3B64-042E-5248-FAD52F703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9C215E-0DF2-6328-0CEE-D87A38321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B8D1D8-6EA1-6255-816A-3ED298937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D01F09-7AAC-D19E-81CA-5EACA555C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8812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34254-6142-8FE4-075C-5987DE53A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1047C0-2BA1-7A25-630A-1C35B0A69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4E511C-A76B-797E-0AD9-E60CE71C5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5EB6CA-CF34-8CAC-2C4D-0785A395FA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AA76C2-5A4E-40EC-A96D-2FB86DA8101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4611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C50F3-795A-5C11-8E77-D465909F1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6A7E1F-E376-E0CE-E68C-D3E338176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39CE2F-298C-8D5D-1558-B152C569A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DD2641-30E4-E02A-19EE-86228271FD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1327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157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9434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4D6FC-6465-4E6E-8BDF-2CAF3C8DE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863EBD-860A-A711-CB72-E268CE0D4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E4ACEF-69A5-692E-7819-29F19CDDA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C7B69-5BAD-C013-6DB2-96BDABB9B7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4399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5E417-5B84-0BF2-57C0-3F5DEFA6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12BA6B-7018-E4B4-344D-00B1AF8CB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11F7CB-D50B-5796-8652-AF7AC1D26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CBD693-3AD6-1B76-1800-0FA2A74BD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2459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  <a:lvl2pPr>
              <a:defRPr>
                <a:solidFill>
                  <a:schemeClr val="dk2">
                    <a:lumMod val="100000"/>
                  </a:schemeClr>
                </a:solidFill>
              </a:defRPr>
            </a:lvl2pPr>
            <a:lvl3pPr>
              <a:defRPr>
                <a:solidFill>
                  <a:schemeClr val="dk2">
                    <a:lumMod val="100000"/>
                  </a:schemeClr>
                </a:solidFill>
              </a:defRPr>
            </a:lvl3pPr>
            <a:lvl4pPr>
              <a:defRPr>
                <a:solidFill>
                  <a:schemeClr val="dk2">
                    <a:lumMod val="100000"/>
                  </a:schemeClr>
                </a:solidFill>
              </a:defRPr>
            </a:lvl4pPr>
            <a:lvl5pPr>
              <a:defRPr>
                <a:solidFill>
                  <a:schemeClr val="dk2">
                    <a:lumMod val="10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  <a:lvl2pPr>
              <a:defRPr>
                <a:solidFill>
                  <a:schemeClr val="dk2">
                    <a:lumMod val="100000"/>
                  </a:schemeClr>
                </a:solidFill>
              </a:defRPr>
            </a:lvl2pPr>
            <a:lvl3pPr>
              <a:defRPr>
                <a:solidFill>
                  <a:schemeClr val="dk2">
                    <a:lumMod val="100000"/>
                  </a:schemeClr>
                </a:solidFill>
              </a:defRPr>
            </a:lvl3pPr>
            <a:lvl4pPr>
              <a:defRPr>
                <a:solidFill>
                  <a:schemeClr val="dk2">
                    <a:lumMod val="100000"/>
                  </a:schemeClr>
                </a:solidFill>
              </a:defRPr>
            </a:lvl4pPr>
            <a:lvl5pPr>
              <a:defRPr>
                <a:solidFill>
                  <a:schemeClr val="dk2">
                    <a:lumMod val="10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lumMod val="10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0" y="6334780"/>
            <a:ext cx="36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chemeClr val="lt1">
                    <a:lumMod val="50000"/>
                  </a:schemeClr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求实求真 大气大为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116632"/>
            <a:ext cx="2085066" cy="51630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dk2">
              <a:lumMod val="10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dk2">
              <a:lumMod val="10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dk2">
              <a:lumMod val="10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dk2">
              <a:lumMod val="10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dk2">
              <a:lumMod val="10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dk2">
              <a:lumMod val="10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notesSlide" Target="../notesSlides/notesSlide2.xml"/><Relationship Id="rId2" Type="http://schemas.openxmlformats.org/officeDocument/2006/relationships/tags" Target="../tags/tag2.xml"/><Relationship Id="rId1" Type="http://schemas.openxmlformats.org/officeDocument/2006/relationships/themeOverride" Target="../theme/themeOverride2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hemeOverride" Target="../theme/themeOverride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13" Type="http://schemas.openxmlformats.org/officeDocument/2006/relationships/tags" Target="../tags/tag38.xml"/><Relationship Id="rId18" Type="http://schemas.openxmlformats.org/officeDocument/2006/relationships/tags" Target="../tags/tag43.xml"/><Relationship Id="rId26" Type="http://schemas.openxmlformats.org/officeDocument/2006/relationships/slideLayout" Target="../slideLayouts/slideLayout2.xml"/><Relationship Id="rId3" Type="http://schemas.openxmlformats.org/officeDocument/2006/relationships/tags" Target="../tags/tag28.xml"/><Relationship Id="rId21" Type="http://schemas.openxmlformats.org/officeDocument/2006/relationships/tags" Target="../tags/tag46.xml"/><Relationship Id="rId7" Type="http://schemas.openxmlformats.org/officeDocument/2006/relationships/tags" Target="../tags/tag32.xml"/><Relationship Id="rId12" Type="http://schemas.openxmlformats.org/officeDocument/2006/relationships/tags" Target="../tags/tag37.xml"/><Relationship Id="rId17" Type="http://schemas.openxmlformats.org/officeDocument/2006/relationships/tags" Target="../tags/tag42.xml"/><Relationship Id="rId25" Type="http://schemas.openxmlformats.org/officeDocument/2006/relationships/tags" Target="../tags/tag50.xml"/><Relationship Id="rId2" Type="http://schemas.openxmlformats.org/officeDocument/2006/relationships/tags" Target="../tags/tag27.xml"/><Relationship Id="rId16" Type="http://schemas.openxmlformats.org/officeDocument/2006/relationships/tags" Target="../tags/tag41.xml"/><Relationship Id="rId20" Type="http://schemas.openxmlformats.org/officeDocument/2006/relationships/tags" Target="../tags/tag45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tags" Target="../tags/tag36.xml"/><Relationship Id="rId24" Type="http://schemas.openxmlformats.org/officeDocument/2006/relationships/tags" Target="../tags/tag49.xml"/><Relationship Id="rId5" Type="http://schemas.openxmlformats.org/officeDocument/2006/relationships/tags" Target="../tags/tag30.xml"/><Relationship Id="rId15" Type="http://schemas.openxmlformats.org/officeDocument/2006/relationships/tags" Target="../tags/tag40.xml"/><Relationship Id="rId23" Type="http://schemas.openxmlformats.org/officeDocument/2006/relationships/tags" Target="../tags/tag48.xml"/><Relationship Id="rId10" Type="http://schemas.openxmlformats.org/officeDocument/2006/relationships/tags" Target="../tags/tag35.xml"/><Relationship Id="rId19" Type="http://schemas.openxmlformats.org/officeDocument/2006/relationships/tags" Target="../tags/tag44.xml"/><Relationship Id="rId4" Type="http://schemas.openxmlformats.org/officeDocument/2006/relationships/tags" Target="../tags/tag29.xml"/><Relationship Id="rId9" Type="http://schemas.openxmlformats.org/officeDocument/2006/relationships/tags" Target="../tags/tag34.xml"/><Relationship Id="rId14" Type="http://schemas.openxmlformats.org/officeDocument/2006/relationships/tags" Target="../tags/tag39.xml"/><Relationship Id="rId22" Type="http://schemas.openxmlformats.org/officeDocument/2006/relationships/tags" Target="../tags/tag47.xml"/><Relationship Id="rId2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3" Type="http://schemas.openxmlformats.org/officeDocument/2006/relationships/tags" Target="../tags/tag5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0.xml"/><Relationship Id="rId3" Type="http://schemas.openxmlformats.org/officeDocument/2006/relationships/tags" Target="../tags/tag6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1.xml"/><Relationship Id="rId3" Type="http://schemas.openxmlformats.org/officeDocument/2006/relationships/tags" Target="../tags/tag67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9558" y="0"/>
            <a:ext cx="12243928" cy="6874868"/>
          </a:xfrm>
          <a:prstGeom prst="rect">
            <a:avLst/>
          </a:prstGeom>
          <a:solidFill>
            <a:schemeClr val="dk2">
              <a:lumMod val="10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1442058" y="2672178"/>
            <a:ext cx="9621008" cy="2560556"/>
            <a:chOff x="1442058" y="2754794"/>
            <a:chExt cx="9621008" cy="2560556"/>
          </a:xfrm>
        </p:grpSpPr>
        <p:sp>
          <p:nvSpPr>
            <p:cNvPr id="8" name="文本框 7"/>
            <p:cNvSpPr txBox="1"/>
            <p:nvPr/>
          </p:nvSpPr>
          <p:spPr>
            <a:xfrm>
              <a:off x="2156468" y="2754794"/>
              <a:ext cx="787908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数字鸿沟的多重意涵及其治理挑战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189348" y="4872472"/>
              <a:ext cx="1813318" cy="442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b="1" dirty="0">
                  <a:solidFill>
                    <a:srgbClr val="FFFFFF"/>
                  </a:solidFill>
                  <a:latin typeface="+mn-ea"/>
                  <a:cs typeface="+mn-ea"/>
                </a:rPr>
                <a:t>汇报人：朱虹雨</a:t>
              </a: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1442058" y="4735752"/>
              <a:ext cx="9621008" cy="0"/>
            </a:xfrm>
            <a:prstGeom prst="line">
              <a:avLst/>
            </a:prstGeom>
            <a:noFill/>
            <a:ln w="28575" cap="flat" cmpd="sng" algn="ctr">
              <a:solidFill>
                <a:srgbClr val="FFFFFF"/>
              </a:solidFill>
              <a:prstDash val="solid"/>
            </a:ln>
            <a:effectLst/>
          </p:spPr>
        </p:cxnSp>
      </p:grpSp>
      <p:grpSp>
        <p:nvGrpSpPr>
          <p:cNvPr id="12" name="组合 11"/>
          <p:cNvGrpSpPr/>
          <p:nvPr/>
        </p:nvGrpSpPr>
        <p:grpSpPr>
          <a:xfrm>
            <a:off x="5028565" y="6449060"/>
            <a:ext cx="2590165" cy="369332"/>
            <a:chOff x="5159896" y="6474952"/>
            <a:chExt cx="1746919" cy="369332"/>
          </a:xfrm>
        </p:grpSpPr>
        <p:sp>
          <p:nvSpPr>
            <p:cNvPr id="13" name="文本框 12"/>
            <p:cNvSpPr txBox="1"/>
            <p:nvPr/>
          </p:nvSpPr>
          <p:spPr>
            <a:xfrm>
              <a:off x="5442732" y="6474952"/>
              <a:ext cx="1222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lt1">
                      <a:lumMod val="10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2025</a:t>
              </a:r>
              <a:r>
                <a:rPr lang="zh-CN" altLang="en-US" b="1" dirty="0">
                  <a:solidFill>
                    <a:schemeClr val="lt1">
                      <a:lumMod val="10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年</a:t>
              </a:r>
              <a:r>
                <a:rPr lang="en-US" altLang="zh-CN" b="1" dirty="0">
                  <a:solidFill>
                    <a:schemeClr val="lt1">
                      <a:lumMod val="10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zh-CN" altLang="en-US" b="1" dirty="0">
                  <a:solidFill>
                    <a:schemeClr val="lt1">
                      <a:lumMod val="10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月</a:t>
              </a:r>
              <a:r>
                <a:rPr lang="en-US" altLang="zh-CN" b="1" dirty="0">
                  <a:solidFill>
                    <a:schemeClr val="lt1">
                      <a:lumMod val="10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19</a:t>
              </a:r>
              <a:r>
                <a:rPr lang="zh-CN" altLang="en-US" b="1" dirty="0">
                  <a:solidFill>
                    <a:schemeClr val="lt1">
                      <a:lumMod val="10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日</a:t>
              </a: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5159896" y="6659618"/>
              <a:ext cx="323469" cy="0"/>
            </a:xfrm>
            <a:prstGeom prst="line">
              <a:avLst/>
            </a:prstGeom>
            <a:ln>
              <a:solidFill>
                <a:schemeClr val="lt1">
                  <a:lumMod val="10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583346" y="6640337"/>
              <a:ext cx="323469" cy="0"/>
            </a:xfrm>
            <a:prstGeom prst="line">
              <a:avLst/>
            </a:prstGeom>
            <a:ln>
              <a:solidFill>
                <a:schemeClr val="lt1">
                  <a:lumMod val="10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31115" y="6295390"/>
            <a:ext cx="4450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chemeClr val="lt1">
                    <a:lumMod val="100000"/>
                  </a:schemeClr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求实求真 大气大为</a:t>
            </a:r>
            <a:endParaRPr lang="zh-CN" altLang="en-US" sz="2800" dirty="0">
              <a:solidFill>
                <a:schemeClr val="lt1">
                  <a:lumMod val="100000"/>
                </a:schemeClr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481" y="943749"/>
            <a:ext cx="5640020" cy="13965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2"/>
            </p:custDataLst>
          </p:nvPr>
        </p:nvGrpSpPr>
        <p:grpSpPr>
          <a:xfrm>
            <a:off x="1487488" y="2228990"/>
            <a:ext cx="8784976" cy="2400019"/>
            <a:chOff x="2731093" y="2917213"/>
            <a:chExt cx="7656467" cy="1872941"/>
          </a:xfrm>
        </p:grpSpPr>
        <p:sp>
          <p:nvSpPr>
            <p:cNvPr id="26" name="矩形 25"/>
            <p:cNvSpPr/>
            <p:nvPr>
              <p:custDataLst>
                <p:tags r:id="rId3"/>
              </p:custDataLst>
            </p:nvPr>
          </p:nvSpPr>
          <p:spPr bwMode="auto">
            <a:xfrm>
              <a:off x="2731093" y="3024422"/>
              <a:ext cx="684076" cy="684076"/>
            </a:xfrm>
            <a:prstGeom prst="rect">
              <a:avLst/>
            </a:prstGeom>
            <a:solidFill>
              <a:schemeClr val="dk2">
                <a:lumMod val="100000"/>
              </a:schemeClr>
            </a:solidFill>
            <a:ln w="28575" cap="flat" cmpd="sng" algn="ctr">
              <a:solidFill>
                <a:schemeClr val="dk2">
                  <a:lumMod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mpact" panose="020B0806030902050204" pitchFamily="34" charset="0"/>
                  <a:ea typeface="宋体" panose="02010600030101010101" pitchFamily="2" charset="-122"/>
                  <a:cs typeface="+mn-ea"/>
                  <a:sym typeface="+mn-lt"/>
                </a:rPr>
                <a:t>1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44" name="Rectangle 73"/>
            <p:cNvSpPr/>
            <p:nvPr>
              <p:custDataLst>
                <p:tags r:id="rId4"/>
              </p:custDataLst>
            </p:nvPr>
          </p:nvSpPr>
          <p:spPr>
            <a:xfrm>
              <a:off x="3414988" y="2917213"/>
              <a:ext cx="2874645" cy="724465"/>
            </a:xfrm>
            <a:prstGeom prst="rect">
              <a:avLst/>
            </a:prstGeom>
          </p:spPr>
          <p:txBody>
            <a:bodyPr wrap="square" lIns="144000" tIns="0" rIns="144000" bIns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>
                      <a:lumMod val="10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+mn-lt"/>
                </a:rPr>
                <a:t>数字鸿沟概念及其选题意义</a:t>
              </a:r>
            </a:p>
          </p:txBody>
        </p:sp>
        <p:sp>
          <p:nvSpPr>
            <p:cNvPr id="42" name="Rectangle 73"/>
            <p:cNvSpPr/>
            <p:nvPr>
              <p:custDataLst>
                <p:tags r:id="rId5"/>
              </p:custDataLst>
            </p:nvPr>
          </p:nvSpPr>
          <p:spPr>
            <a:xfrm>
              <a:off x="3414988" y="3978518"/>
              <a:ext cx="2996565" cy="467360"/>
            </a:xfrm>
            <a:prstGeom prst="rect">
              <a:avLst/>
            </a:prstGeom>
          </p:spPr>
          <p:txBody>
            <a:bodyPr wrap="square" lIns="144000" tIns="0" rIns="144000" bIns="0">
              <a:noAutofit/>
            </a:bodyPr>
            <a:lstStyle/>
            <a:p>
              <a:pPr lvl="0" algn="l">
                <a:defRPr/>
              </a:pPr>
              <a:r>
                <a:rPr lang="zh-CN" altLang="en-US" sz="2800" b="1" dirty="0">
                  <a:solidFill>
                    <a:srgbClr val="03358E"/>
                  </a:solidFill>
                  <a:cs typeface="+mn-ea"/>
                  <a:sym typeface="+mn-lt"/>
                </a:rPr>
                <a:t>主要研究问题与视角</a:t>
              </a:r>
            </a:p>
          </p:txBody>
        </p:sp>
        <p:sp>
          <p:nvSpPr>
            <p:cNvPr id="38" name="Rectangle 73"/>
            <p:cNvSpPr/>
            <p:nvPr>
              <p:custDataLst>
                <p:tags r:id="rId6"/>
              </p:custDataLst>
            </p:nvPr>
          </p:nvSpPr>
          <p:spPr>
            <a:xfrm>
              <a:off x="7389090" y="2917213"/>
              <a:ext cx="2998470" cy="474345"/>
            </a:xfrm>
            <a:prstGeom prst="rect">
              <a:avLst/>
            </a:prstGeom>
          </p:spPr>
          <p:txBody>
            <a:bodyPr wrap="square" lIns="144000" tIns="0" rIns="144000" bIns="0">
              <a:noAutofit/>
            </a:bodyPr>
            <a:lstStyle/>
            <a:p>
              <a:pPr lvl="0">
                <a:defRPr/>
              </a:pPr>
              <a:r>
                <a:rPr lang="zh-CN" altLang="en-US" sz="2800" b="1" dirty="0">
                  <a:solidFill>
                    <a:schemeClr val="dk2">
                      <a:lumMod val="100000"/>
                    </a:schemeClr>
                  </a:solidFill>
                  <a:cs typeface="+mn-ea"/>
                  <a:sym typeface="+mn-lt"/>
                </a:rPr>
                <a:t>数字鸿沟相关理论基础</a:t>
              </a:r>
            </a:p>
          </p:txBody>
        </p:sp>
        <p:sp>
          <p:nvSpPr>
            <p:cNvPr id="36" name="Rectangle 73"/>
            <p:cNvSpPr/>
            <p:nvPr>
              <p:custDataLst>
                <p:tags r:id="rId7"/>
              </p:custDataLst>
            </p:nvPr>
          </p:nvSpPr>
          <p:spPr>
            <a:xfrm>
              <a:off x="7326748" y="4011334"/>
              <a:ext cx="2998470" cy="472440"/>
            </a:xfrm>
            <a:prstGeom prst="rect">
              <a:avLst/>
            </a:prstGeom>
          </p:spPr>
          <p:txBody>
            <a:bodyPr wrap="square" lIns="144000" tIns="0" rIns="144000" bIns="0">
              <a:noAutofit/>
            </a:bodyPr>
            <a:lstStyle/>
            <a:p>
              <a:pPr lvl="0" algn="l">
                <a:buClrTx/>
                <a:buSzTx/>
                <a:buFontTx/>
                <a:defRPr/>
              </a:pPr>
              <a:r>
                <a:rPr lang="zh-CN" altLang="en-US" sz="2800" b="1" dirty="0">
                  <a:solidFill>
                    <a:srgbClr val="03358E"/>
                  </a:solidFill>
                  <a:cs typeface="+mn-ea"/>
                  <a:sym typeface="+mn-ea"/>
                </a:rPr>
                <a:t>新时代下数字鸿沟研究的启示</a:t>
              </a:r>
              <a:endParaRPr lang="zh-CN" altLang="en-US" sz="2800" b="1" dirty="0">
                <a:solidFill>
                  <a:srgbClr val="03358E"/>
                </a:solidFill>
                <a:cs typeface="+mn-ea"/>
                <a:sym typeface="+mn-lt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8"/>
              </p:custDataLst>
            </p:nvPr>
          </p:nvSpPr>
          <p:spPr bwMode="auto">
            <a:xfrm>
              <a:off x="2731093" y="4106078"/>
              <a:ext cx="684076" cy="684076"/>
            </a:xfrm>
            <a:prstGeom prst="rect">
              <a:avLst/>
            </a:prstGeom>
            <a:solidFill>
              <a:schemeClr val="dk2">
                <a:lumMod val="100000"/>
              </a:schemeClr>
            </a:solidFill>
            <a:ln w="28575" cap="flat" cmpd="sng" algn="ctr">
              <a:solidFill>
                <a:schemeClr val="dk2">
                  <a:lumMod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mpact" panose="020B0806030902050204" pitchFamily="34" charset="0"/>
                  <a:ea typeface="宋体" panose="02010600030101010101" pitchFamily="2" charset="-122"/>
                  <a:cs typeface="+mn-ea"/>
                  <a:sym typeface="+mn-lt"/>
                </a:rPr>
                <a:t>3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9"/>
              </p:custDataLst>
            </p:nvPr>
          </p:nvSpPr>
          <p:spPr bwMode="auto">
            <a:xfrm>
              <a:off x="6642774" y="3024422"/>
              <a:ext cx="684076" cy="684076"/>
            </a:xfrm>
            <a:prstGeom prst="rect">
              <a:avLst/>
            </a:prstGeom>
            <a:solidFill>
              <a:schemeClr val="dk2">
                <a:lumMod val="100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mpact" panose="020B0806030902050204" pitchFamily="34" charset="0"/>
                  <a:ea typeface="宋体" panose="02010600030101010101" pitchFamily="2" charset="-122"/>
                  <a:cs typeface="+mn-ea"/>
                  <a:sym typeface="+mn-lt"/>
                </a:rPr>
                <a:t>2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35" name="矩形 34"/>
            <p:cNvSpPr/>
            <p:nvPr>
              <p:custDataLst>
                <p:tags r:id="rId10"/>
              </p:custDataLst>
            </p:nvPr>
          </p:nvSpPr>
          <p:spPr bwMode="auto">
            <a:xfrm>
              <a:off x="6642774" y="4106078"/>
              <a:ext cx="684076" cy="684076"/>
            </a:xfrm>
            <a:prstGeom prst="rect">
              <a:avLst/>
            </a:prstGeom>
            <a:solidFill>
              <a:schemeClr val="dk2">
                <a:lumMod val="100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mpact" panose="020B0806030902050204" pitchFamily="34" charset="0"/>
                  <a:ea typeface="宋体" panose="02010600030101010101" pitchFamily="2" charset="-122"/>
                  <a:cs typeface="+mn-ea"/>
                  <a:sym typeface="+mn-lt"/>
                </a:rPr>
                <a:t>4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-44" y="332806"/>
            <a:ext cx="2589079" cy="922019"/>
            <a:chOff x="119336" y="1725785"/>
            <a:chExt cx="2589079" cy="922019"/>
          </a:xfrm>
        </p:grpSpPr>
        <p:sp>
          <p:nvSpPr>
            <p:cNvPr id="51" name="五边形 50"/>
            <p:cNvSpPr/>
            <p:nvPr/>
          </p:nvSpPr>
          <p:spPr bwMode="auto">
            <a:xfrm>
              <a:off x="119336" y="1726013"/>
              <a:ext cx="2589079" cy="880708"/>
            </a:xfrm>
            <a:prstGeom prst="homePlate">
              <a:avLst/>
            </a:prstGeom>
            <a:solidFill>
              <a:schemeClr val="dk2">
                <a:lumMod val="100000"/>
              </a:schemeClr>
            </a:solidFill>
            <a:ln w="19050">
              <a:solidFill>
                <a:schemeClr val="dk2">
                  <a:lumMod val="100000"/>
                </a:schemeClr>
              </a:solidFill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49" name="五边形 48"/>
            <p:cNvSpPr/>
            <p:nvPr/>
          </p:nvSpPr>
          <p:spPr>
            <a:xfrm>
              <a:off x="289953" y="1725785"/>
              <a:ext cx="2137737" cy="922019"/>
            </a:xfrm>
            <a:prstGeom prst="homePlate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目 录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0056" y="2060848"/>
            <a:ext cx="5097441" cy="507245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6042" y="22393"/>
            <a:ext cx="5097441" cy="5072454"/>
          </a:xfrm>
          <a:prstGeom prst="rect">
            <a:avLst/>
          </a:prstGeom>
        </p:spPr>
      </p:pic>
      <p:sp>
        <p:nvSpPr>
          <p:cNvPr id="2" name="任意多边形: 形状 1"/>
          <p:cNvSpPr/>
          <p:nvPr/>
        </p:nvSpPr>
        <p:spPr>
          <a:xfrm>
            <a:off x="0" y="1952835"/>
            <a:ext cx="10647949" cy="2952329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gradFill flip="none" rotWithShape="1">
            <a:gsLst>
              <a:gs pos="0">
                <a:schemeClr val="dk2">
                  <a:lumMod val="100000"/>
                </a:schemeClr>
              </a:gs>
              <a:gs pos="42000">
                <a:schemeClr val="dk2">
                  <a:lumMod val="100000"/>
                </a:schemeClr>
              </a:gs>
              <a:gs pos="74000">
                <a:schemeClr val="dk2">
                  <a:lumMod val="100000"/>
                </a:schemeClr>
              </a:gs>
              <a:gs pos="100000">
                <a:schemeClr val="dk2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7824190" y="2100860"/>
            <a:ext cx="3282569" cy="2664296"/>
            <a:chOff x="6103143" y="2244876"/>
            <a:chExt cx="2927697" cy="2376264"/>
          </a:xfrm>
        </p:grpSpPr>
        <p:sp>
          <p:nvSpPr>
            <p:cNvPr id="8" name="椭圆 7"/>
            <p:cNvSpPr/>
            <p:nvPr/>
          </p:nvSpPr>
          <p:spPr>
            <a:xfrm>
              <a:off x="6103143" y="2244876"/>
              <a:ext cx="2376264" cy="2376264"/>
            </a:xfrm>
            <a:prstGeom prst="ellipse">
              <a:avLst/>
            </a:prstGeom>
            <a:solidFill>
              <a:schemeClr val="lt1">
                <a:lumMod val="100000"/>
              </a:schemeClr>
            </a:solidFill>
            <a:ln>
              <a:solidFill>
                <a:schemeClr val="dk2">
                  <a:lumMod val="10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extBox 21"/>
            <p:cNvSpPr txBox="1"/>
            <p:nvPr/>
          </p:nvSpPr>
          <p:spPr>
            <a:xfrm>
              <a:off x="6204439" y="2990371"/>
              <a:ext cx="2826401" cy="885273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zh-CN" altLang="en-US" sz="6000" b="1" dirty="0">
                  <a:solidFill>
                    <a:schemeClr val="dk2">
                      <a:lumMod val="100000"/>
                    </a:schemeClr>
                  </a:solidFill>
                  <a:latin typeface="AvantGarde Md BT" pitchFamily="34" charset="0"/>
                  <a:ea typeface="微软雅黑" panose="020B0503020204020204" pitchFamily="34" charset="-122"/>
                </a:rPr>
                <a:t>第一章</a:t>
              </a:r>
              <a:endParaRPr lang="en-US" altLang="zh-CN" sz="6000" b="1" dirty="0">
                <a:solidFill>
                  <a:schemeClr val="dk2">
                    <a:lumMod val="100000"/>
                  </a:schemeClr>
                </a:solidFill>
                <a:latin typeface="AvantGarde Md BT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TextBox 4"/>
          <p:cNvSpPr txBox="1"/>
          <p:nvPr/>
        </p:nvSpPr>
        <p:spPr>
          <a:xfrm>
            <a:off x="1085241" y="2780928"/>
            <a:ext cx="5678478" cy="1731243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zh-CN" altLang="en-US" sz="5400" b="1" dirty="0">
                <a:solidFill>
                  <a:schemeClr val="lt1">
                    <a:lumMod val="100000"/>
                  </a:schemeClr>
                </a:solidFill>
                <a:latin typeface="AvantGarde Md BT" pitchFamily="34" charset="0"/>
                <a:ea typeface="微软雅黑" panose="020B0503020204020204" pitchFamily="34" charset="-122"/>
              </a:rPr>
              <a:t>数字鸿沟概念及其</a:t>
            </a:r>
            <a:endParaRPr lang="en-US" altLang="zh-CN" sz="5400" b="1" dirty="0">
              <a:solidFill>
                <a:schemeClr val="lt1">
                  <a:lumMod val="100000"/>
                </a:schemeClr>
              </a:solidFill>
              <a:latin typeface="AvantGarde Md BT" pitchFamily="34" charset="0"/>
              <a:ea typeface="微软雅黑" panose="020B0503020204020204" pitchFamily="34" charset="-122"/>
            </a:endParaRPr>
          </a:p>
          <a:p>
            <a:r>
              <a:rPr lang="zh-CN" altLang="en-US" sz="5400" b="1" dirty="0">
                <a:solidFill>
                  <a:schemeClr val="lt1">
                    <a:lumMod val="100000"/>
                  </a:schemeClr>
                </a:solidFill>
                <a:latin typeface="AvantGarde Md BT" pitchFamily="34" charset="0"/>
                <a:ea typeface="微软雅黑" panose="020B0503020204020204" pitchFamily="34" charset="-122"/>
              </a:rPr>
              <a:t>选题意义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10535642" y="5805398"/>
            <a:ext cx="1152278" cy="1008112"/>
            <a:chOff x="10590887" y="5019961"/>
            <a:chExt cx="1152278" cy="1008112"/>
          </a:xfrm>
        </p:grpSpPr>
        <p:sp>
          <p:nvSpPr>
            <p:cNvPr id="36" name="矩形 35"/>
            <p:cNvSpPr/>
            <p:nvPr/>
          </p:nvSpPr>
          <p:spPr>
            <a:xfrm>
              <a:off x="10878957" y="5019961"/>
              <a:ext cx="864208" cy="864096"/>
            </a:xfrm>
            <a:prstGeom prst="rect">
              <a:avLst/>
            </a:prstGeom>
            <a:solidFill>
              <a:schemeClr val="dk2">
                <a:lumMod val="100000"/>
              </a:schemeClr>
            </a:solidFill>
            <a:ln>
              <a:solidFill>
                <a:schemeClr val="lt1">
                  <a:lumMod val="10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400"/>
              <a:endParaRPr lang="zh-CN" altLang="en-US" sz="1865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10590887" y="5452009"/>
              <a:ext cx="576139" cy="576064"/>
            </a:xfrm>
            <a:prstGeom prst="rect">
              <a:avLst/>
            </a:prstGeom>
            <a:solidFill>
              <a:srgbClr val="2974FA"/>
            </a:solidFill>
            <a:ln>
              <a:solidFill>
                <a:schemeClr val="lt1">
                  <a:lumMod val="10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400"/>
              <a:endParaRPr lang="zh-CN" altLang="en-US" sz="2800" dirty="0">
                <a:solidFill>
                  <a:prstClr val="white"/>
                </a:solidFill>
                <a:latin typeface="AvantGarde Md BT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99356" y="260648"/>
            <a:ext cx="8308570" cy="682262"/>
            <a:chOff x="299356" y="260648"/>
            <a:chExt cx="8308570" cy="682262"/>
          </a:xfrm>
        </p:grpSpPr>
        <p:grpSp>
          <p:nvGrpSpPr>
            <p:cNvPr id="3" name="组合 2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dk2">
                  <a:lumMod val="60000"/>
                  <a:lumOff val="40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dk2">
                  <a:lumMod val="75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5" name="直接连接符 4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03358E"/>
                  </a:gs>
                  <a:gs pos="100000">
                    <a:srgbClr val="03358E">
                      <a:lumMod val="40000"/>
                      <a:lumOff val="6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36"/>
            <p:cNvSpPr txBox="1"/>
            <p:nvPr/>
          </p:nvSpPr>
          <p:spPr>
            <a:xfrm>
              <a:off x="1163452" y="333038"/>
              <a:ext cx="7444474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zh-CN" altLang="en-US" sz="2800" b="1" dirty="0">
                  <a:solidFill>
                    <a:schemeClr val="dk2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数字鸿沟概念：从接入到结果的三层内涵演进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B0F6119E-7122-CCE1-5235-93306E6481F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36816" y="1341005"/>
            <a:ext cx="53251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</a:rPr>
              <a:t>起源：</a:t>
            </a:r>
            <a:r>
              <a:rPr lang="en-US" altLang="zh-CN" b="1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</a:t>
            </a:r>
            <a:r>
              <a:rPr lang="zh-CN" altLang="en-US" b="1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年美国</a:t>
            </a:r>
            <a:r>
              <a:rPr lang="en-US" altLang="zh-CN" b="1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NTIA</a:t>
            </a:r>
            <a:r>
              <a:rPr lang="zh-CN" altLang="en-US" b="1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报告正式提出。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7BBAA7-F60F-39C9-A42D-713A6718F4A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50706" y="4573712"/>
            <a:ext cx="1144598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</a:rPr>
              <a:t>目前定义：</a:t>
            </a:r>
            <a:r>
              <a:rPr lang="zh-CN" altLang="en-US" b="1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在全球数字化进程中</a:t>
            </a:r>
            <a:r>
              <a:rPr lang="en-US" altLang="zh-CN" b="1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b="1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由于信息和网络技术发展以及应用程度差异</a:t>
            </a:r>
            <a:r>
              <a:rPr lang="en-US" altLang="zh-CN" b="1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而在各类群体间形成的数字水平差距以及社会经济分化（</a:t>
            </a:r>
            <a:r>
              <a:rPr lang="en-US" altLang="zh-CN" b="1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Vandijka,2006</a:t>
            </a:r>
            <a:r>
              <a:rPr lang="zh-CN" altLang="en-US" b="1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F02D837-3A9D-88B5-7EF3-2E14F6560E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5560" y="1916832"/>
            <a:ext cx="7128792" cy="2028296"/>
          </a:xfrm>
          <a:prstGeom prst="rect">
            <a:avLst/>
          </a:prstGeom>
          <a:ln w="28575">
            <a:solidFill>
              <a:srgbClr val="00B0F0"/>
            </a:solidFill>
            <a:prstDash val="lgDash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9609B-A7E5-69C4-DD8A-5ED27432F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>
            <a:extLst>
              <a:ext uri="{FF2B5EF4-FFF2-40B4-BE49-F238E27FC236}">
                <a16:creationId xmlns:a16="http://schemas.microsoft.com/office/drawing/2014/main" id="{062FD149-52FA-B7EE-FB4F-CDFE73593280}"/>
              </a:ext>
            </a:extLst>
          </p:cNvPr>
          <p:cNvGrpSpPr/>
          <p:nvPr/>
        </p:nvGrpSpPr>
        <p:grpSpPr>
          <a:xfrm>
            <a:off x="10535642" y="5805398"/>
            <a:ext cx="1152278" cy="1008112"/>
            <a:chOff x="10590887" y="5019961"/>
            <a:chExt cx="1152278" cy="1008112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B0D61C47-ADD9-2EBC-3CFF-B080D858A56D}"/>
                </a:ext>
              </a:extLst>
            </p:cNvPr>
            <p:cNvSpPr/>
            <p:nvPr/>
          </p:nvSpPr>
          <p:spPr>
            <a:xfrm>
              <a:off x="10878957" y="5019961"/>
              <a:ext cx="864208" cy="864096"/>
            </a:xfrm>
            <a:prstGeom prst="rect">
              <a:avLst/>
            </a:prstGeom>
            <a:solidFill>
              <a:schemeClr val="dk2">
                <a:lumMod val="100000"/>
              </a:schemeClr>
            </a:solidFill>
            <a:ln>
              <a:solidFill>
                <a:schemeClr val="lt1">
                  <a:lumMod val="10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07EA9995-2F7B-682B-544F-8BECF5F399DB}"/>
                </a:ext>
              </a:extLst>
            </p:cNvPr>
            <p:cNvSpPr/>
            <p:nvPr/>
          </p:nvSpPr>
          <p:spPr>
            <a:xfrm>
              <a:off x="10590887" y="5452009"/>
              <a:ext cx="576139" cy="576064"/>
            </a:xfrm>
            <a:prstGeom prst="rect">
              <a:avLst/>
            </a:prstGeom>
            <a:solidFill>
              <a:srgbClr val="2974FA"/>
            </a:solidFill>
            <a:ln>
              <a:solidFill>
                <a:schemeClr val="lt1">
                  <a:lumMod val="10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antGarde Md BT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C1D619B3-7037-A3E3-AB23-823494B6790A}"/>
              </a:ext>
            </a:extLst>
          </p:cNvPr>
          <p:cNvGrpSpPr/>
          <p:nvPr/>
        </p:nvGrpSpPr>
        <p:grpSpPr>
          <a:xfrm>
            <a:off x="299356" y="260648"/>
            <a:ext cx="8308570" cy="682262"/>
            <a:chOff x="299356" y="260648"/>
            <a:chExt cx="8308570" cy="68226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9FB8590F-DA8C-9290-7AF2-1C25C629029D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77F3A28-3FAB-6B89-52CC-6BB18D9B8B1D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dk2">
                  <a:lumMod val="60000"/>
                  <a:lumOff val="40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129D952-0378-50DC-221D-8B010D21FE7B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dk2">
                  <a:lumMod val="75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387FA5DA-B0EC-CFA7-17B5-C122E5BA5DD0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03358E"/>
                  </a:gs>
                  <a:gs pos="100000">
                    <a:srgbClr val="03358E">
                      <a:lumMod val="40000"/>
                      <a:lumOff val="6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36">
              <a:extLst>
                <a:ext uri="{FF2B5EF4-FFF2-40B4-BE49-F238E27FC236}">
                  <a16:creationId xmlns:a16="http://schemas.microsoft.com/office/drawing/2014/main" id="{DE8A8FDD-16FA-2D70-EA5B-05D08042C083}"/>
                </a:ext>
              </a:extLst>
            </p:cNvPr>
            <p:cNvSpPr txBox="1"/>
            <p:nvPr/>
          </p:nvSpPr>
          <p:spPr>
            <a:xfrm>
              <a:off x="1163452" y="333038"/>
              <a:ext cx="7444474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3358E">
                      <a:lumMod val="100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数字鸿沟概念：从接入到结果的三层内涵演进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C026C4F-D412-901C-7A3A-1B12BECDAC03}"/>
              </a:ext>
            </a:extLst>
          </p:cNvPr>
          <p:cNvGrpSpPr/>
          <p:nvPr/>
        </p:nvGrpSpPr>
        <p:grpSpPr>
          <a:xfrm>
            <a:off x="793788" y="950078"/>
            <a:ext cx="10604423" cy="3706919"/>
            <a:chOff x="1330864" y="1683643"/>
            <a:chExt cx="10604423" cy="3706919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BC3DD57D-606B-BA2F-BE6F-2521BD1C9D3B}"/>
                </a:ext>
              </a:extLst>
            </p:cNvPr>
            <p:cNvGrpSpPr/>
            <p:nvPr/>
          </p:nvGrpSpPr>
          <p:grpSpPr>
            <a:xfrm>
              <a:off x="1330864" y="2316584"/>
              <a:ext cx="9179376" cy="2585310"/>
              <a:chOff x="236816" y="3442602"/>
              <a:chExt cx="9179376" cy="2585310"/>
            </a:xfrm>
          </p:grpSpPr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5C5BD0C-1535-3A1D-A966-26AA2CA2A7BB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236816" y="3872507"/>
                <a:ext cx="19672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华文中宋" panose="02010600040101010101" charset="-122"/>
                    <a:ea typeface="华文中宋" panose="02010600040101010101" charset="-122"/>
                    <a:cs typeface="+mn-cs"/>
                  </a:rPr>
                  <a:t>三层核心内涵：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华文中宋" panose="02010600040101010101" charset="-122"/>
                  <a:ea typeface="华文中宋" panose="02010600040101010101" charset="-122"/>
                  <a:cs typeface="+mn-cs"/>
                </a:endParaRPr>
              </a:p>
            </p:txBody>
          </p: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DEE6D504-4BC6-95FB-D8FF-A19CC0BA1E5B}"/>
                  </a:ext>
                </a:extLst>
              </p:cNvPr>
              <p:cNvGrpSpPr/>
              <p:nvPr/>
            </p:nvGrpSpPr>
            <p:grpSpPr>
              <a:xfrm>
                <a:off x="2503424" y="3442602"/>
                <a:ext cx="6912768" cy="939800"/>
                <a:chOff x="787171" y="3378470"/>
                <a:chExt cx="4598508" cy="939800"/>
              </a:xfrm>
            </p:grpSpPr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4AE51F15-2295-EF65-9EE5-4A48CFE81BFD}"/>
                    </a:ext>
                  </a:extLst>
                </p:cNvPr>
                <p:cNvSpPr/>
                <p:nvPr/>
              </p:nvSpPr>
              <p:spPr>
                <a:xfrm>
                  <a:off x="787171" y="3378470"/>
                  <a:ext cx="939802" cy="939800"/>
                </a:xfrm>
                <a:prstGeom prst="ellipse">
                  <a:avLst/>
                </a:prstGeom>
                <a:solidFill>
                  <a:srgbClr val="03358E">
                    <a:lumMod val="10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867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itchFamily="34" charset="-122"/>
                      <a:ea typeface="微软雅黑" pitchFamily="34" charset="-122"/>
                      <a:cs typeface="+mn-cs"/>
                    </a:rPr>
                    <a:t>接入沟</a:t>
                  </a:r>
                </a:p>
              </p:txBody>
            </p:sp>
            <p:sp>
              <p:nvSpPr>
                <p:cNvPr id="23" name="虚尾箭头 7">
                  <a:extLst>
                    <a:ext uri="{FF2B5EF4-FFF2-40B4-BE49-F238E27FC236}">
                      <a16:creationId xmlns:a16="http://schemas.microsoft.com/office/drawing/2014/main" id="{2F5DB34A-F8C9-7438-5BD3-41FA61A9A593}"/>
                    </a:ext>
                  </a:extLst>
                </p:cNvPr>
                <p:cNvSpPr/>
                <p:nvPr/>
              </p:nvSpPr>
              <p:spPr>
                <a:xfrm>
                  <a:off x="1975573" y="3670570"/>
                  <a:ext cx="546101" cy="355600"/>
                </a:xfrm>
                <a:prstGeom prst="stripedRightArrow">
                  <a:avLst/>
                </a:prstGeom>
                <a:solidFill>
                  <a:srgbClr val="03358E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A48E3B9E-0FFD-3F6D-CE66-0BE4BBAA96B0}"/>
                    </a:ext>
                  </a:extLst>
                </p:cNvPr>
                <p:cNvSpPr/>
                <p:nvPr/>
              </p:nvSpPr>
              <p:spPr>
                <a:xfrm>
                  <a:off x="2664243" y="3378470"/>
                  <a:ext cx="939800" cy="939800"/>
                </a:xfrm>
                <a:prstGeom prst="ellipse">
                  <a:avLst/>
                </a:prstGeom>
                <a:solidFill>
                  <a:srgbClr val="03358E">
                    <a:lumMod val="10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867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itchFamily="34" charset="-122"/>
                      <a:ea typeface="微软雅黑" pitchFamily="34" charset="-122"/>
                      <a:cs typeface="+mn-cs"/>
                    </a:rPr>
                    <a:t>使用沟</a:t>
                  </a:r>
                </a:p>
              </p:txBody>
            </p:sp>
            <p:sp>
              <p:nvSpPr>
                <p:cNvPr id="25" name="虚尾箭头 9">
                  <a:extLst>
                    <a:ext uri="{FF2B5EF4-FFF2-40B4-BE49-F238E27FC236}">
                      <a16:creationId xmlns:a16="http://schemas.microsoft.com/office/drawing/2014/main" id="{571F5456-7D37-B473-2294-03CE4980DB08}"/>
                    </a:ext>
                  </a:extLst>
                </p:cNvPr>
                <p:cNvSpPr/>
                <p:nvPr/>
              </p:nvSpPr>
              <p:spPr>
                <a:xfrm>
                  <a:off x="3736008" y="3670570"/>
                  <a:ext cx="546101" cy="355600"/>
                </a:xfrm>
                <a:prstGeom prst="stripedRightArrow">
                  <a:avLst/>
                </a:prstGeom>
                <a:solidFill>
                  <a:srgbClr val="03358E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0A1E6BB0-5D99-3023-569E-C6156C9A46A3}"/>
                    </a:ext>
                  </a:extLst>
                </p:cNvPr>
                <p:cNvSpPr/>
                <p:nvPr/>
              </p:nvSpPr>
              <p:spPr>
                <a:xfrm>
                  <a:off x="4445879" y="3378470"/>
                  <a:ext cx="939800" cy="939800"/>
                </a:xfrm>
                <a:prstGeom prst="ellipse">
                  <a:avLst/>
                </a:prstGeom>
                <a:solidFill>
                  <a:srgbClr val="03358E">
                    <a:lumMod val="10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867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itchFamily="34" charset="-122"/>
                      <a:ea typeface="微软雅黑" pitchFamily="34" charset="-122"/>
                      <a:cs typeface="+mn-cs"/>
                    </a:rPr>
                    <a:t>结果沟</a:t>
                  </a:r>
                </a:p>
              </p:txBody>
            </p:sp>
          </p:grpSp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43388267-F23F-710B-38A1-1FC786BDC93A}"/>
                  </a:ext>
                </a:extLst>
              </p:cNvPr>
              <p:cNvGrpSpPr/>
              <p:nvPr/>
            </p:nvGrpSpPr>
            <p:grpSpPr>
              <a:xfrm>
                <a:off x="1162348" y="4481704"/>
                <a:ext cx="2052037" cy="1446906"/>
                <a:chOff x="2601422" y="4214343"/>
                <a:chExt cx="2052037" cy="1446905"/>
              </a:xfrm>
            </p:grpSpPr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1097BBE0-9E78-25CE-F5C4-4E9D762B9AF9}"/>
                    </a:ext>
                  </a:extLst>
                </p:cNvPr>
                <p:cNvSpPr/>
                <p:nvPr/>
              </p:nvSpPr>
              <p:spPr>
                <a:xfrm>
                  <a:off x="4526459" y="4214343"/>
                  <a:ext cx="127000" cy="127000"/>
                </a:xfrm>
                <a:prstGeom prst="ellipse">
                  <a:avLst/>
                </a:prstGeom>
                <a:solidFill>
                  <a:srgbClr val="000000">
                    <a:lumMod val="75000"/>
                    <a:lumOff val="2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B6222E34-DEFE-31ED-0AA2-E8C7B1B3C6C3}"/>
                    </a:ext>
                  </a:extLst>
                </p:cNvPr>
                <p:cNvCxnSpPr/>
                <p:nvPr/>
              </p:nvCxnSpPr>
              <p:spPr>
                <a:xfrm>
                  <a:off x="4586152" y="4338634"/>
                  <a:ext cx="0" cy="132261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>
                      <a:lumMod val="75000"/>
                      <a:lumOff val="25000"/>
                    </a:srgbClr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39" name="文本框 3">
                  <a:extLst>
                    <a:ext uri="{FF2B5EF4-FFF2-40B4-BE49-F238E27FC236}">
                      <a16:creationId xmlns:a16="http://schemas.microsoft.com/office/drawing/2014/main" id="{C448214A-AA35-BE95-3E7F-4BCC747C93D0}"/>
                    </a:ext>
                  </a:extLst>
                </p:cNvPr>
                <p:cNvSpPr txBox="1"/>
                <p:nvPr/>
              </p:nvSpPr>
              <p:spPr>
                <a:xfrm>
                  <a:off x="2601422" y="4437112"/>
                  <a:ext cx="1980029" cy="10156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r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内涵</a:t>
                  </a:r>
                  <a:endPara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  <a:p>
                  <a:pPr marL="0" marR="0" lvl="0" indent="0" algn="r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信息技术</a:t>
                  </a:r>
                  <a:endPara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  <a:p>
                  <a:pPr marL="0" marR="0" lvl="0" indent="0" algn="r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资源的获取程度</a:t>
                  </a:r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95E0560F-488C-DC33-6641-65195241B861}"/>
                  </a:ext>
                </a:extLst>
              </p:cNvPr>
              <p:cNvGrpSpPr/>
              <p:nvPr/>
            </p:nvGrpSpPr>
            <p:grpSpPr>
              <a:xfrm>
                <a:off x="3587799" y="4434244"/>
                <a:ext cx="2564998" cy="1546208"/>
                <a:chOff x="2088461" y="4214343"/>
                <a:chExt cx="2564998" cy="1546207"/>
              </a:xfrm>
            </p:grpSpPr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92FBEF85-B2C4-693F-CCA6-9C431AB21445}"/>
                    </a:ext>
                  </a:extLst>
                </p:cNvPr>
                <p:cNvSpPr/>
                <p:nvPr/>
              </p:nvSpPr>
              <p:spPr>
                <a:xfrm>
                  <a:off x="4526459" y="4214343"/>
                  <a:ext cx="127000" cy="127000"/>
                </a:xfrm>
                <a:prstGeom prst="ellipse">
                  <a:avLst/>
                </a:prstGeom>
                <a:solidFill>
                  <a:srgbClr val="000000">
                    <a:lumMod val="75000"/>
                    <a:lumOff val="2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cxnSp>
              <p:nvCxnSpPr>
                <p:cNvPr id="42" name="直接连接符 41">
                  <a:extLst>
                    <a:ext uri="{FF2B5EF4-FFF2-40B4-BE49-F238E27FC236}">
                      <a16:creationId xmlns:a16="http://schemas.microsoft.com/office/drawing/2014/main" id="{C5A83988-525B-C403-5B89-0CFC8436EA0A}"/>
                    </a:ext>
                  </a:extLst>
                </p:cNvPr>
                <p:cNvCxnSpPr/>
                <p:nvPr/>
              </p:nvCxnSpPr>
              <p:spPr>
                <a:xfrm>
                  <a:off x="4586152" y="4338634"/>
                  <a:ext cx="0" cy="132261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>
                      <a:lumMod val="75000"/>
                      <a:lumOff val="25000"/>
                    </a:srgbClr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3" name="文本框 3">
                  <a:extLst>
                    <a:ext uri="{FF2B5EF4-FFF2-40B4-BE49-F238E27FC236}">
                      <a16:creationId xmlns:a16="http://schemas.microsoft.com/office/drawing/2014/main" id="{8BFB8D75-D068-0E86-DC73-FE81064DE3CD}"/>
                    </a:ext>
                  </a:extLst>
                </p:cNvPr>
                <p:cNvSpPr txBox="1"/>
                <p:nvPr/>
              </p:nvSpPr>
              <p:spPr>
                <a:xfrm>
                  <a:off x="2088461" y="4437112"/>
                  <a:ext cx="2492990" cy="13234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r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内涵</a:t>
                  </a:r>
                  <a:endPara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  <a:p>
                  <a:pPr marL="0" marR="0" lvl="0" indent="0" algn="r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操作数字设备的知识</a:t>
                  </a:r>
                  <a:endPara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  <a:p>
                  <a:pPr marL="0" marR="0" lvl="0" indent="0" algn="r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能力</a:t>
                  </a:r>
                  <a:endPara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  <a:p>
                  <a:pPr marL="0" marR="0" lvl="0" indent="0" algn="r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所掌握的程度</a:t>
                  </a:r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2B0DE978-17C5-C27D-93EB-DFDEC300EB9D}"/>
                  </a:ext>
                </a:extLst>
              </p:cNvPr>
              <p:cNvGrpSpPr/>
              <p:nvPr/>
            </p:nvGrpSpPr>
            <p:grpSpPr>
              <a:xfrm>
                <a:off x="6808068" y="4481704"/>
                <a:ext cx="2052037" cy="1546208"/>
                <a:chOff x="2601422" y="4214343"/>
                <a:chExt cx="2052037" cy="1546207"/>
              </a:xfrm>
            </p:grpSpPr>
            <p:sp>
              <p:nvSpPr>
                <p:cNvPr id="45" name="椭圆 44">
                  <a:extLst>
                    <a:ext uri="{FF2B5EF4-FFF2-40B4-BE49-F238E27FC236}">
                      <a16:creationId xmlns:a16="http://schemas.microsoft.com/office/drawing/2014/main" id="{8FB0DF5B-87BB-700D-439B-50DC0BED177D}"/>
                    </a:ext>
                  </a:extLst>
                </p:cNvPr>
                <p:cNvSpPr/>
                <p:nvPr/>
              </p:nvSpPr>
              <p:spPr>
                <a:xfrm>
                  <a:off x="4526459" y="4214343"/>
                  <a:ext cx="127000" cy="127000"/>
                </a:xfrm>
                <a:prstGeom prst="ellipse">
                  <a:avLst/>
                </a:prstGeom>
                <a:solidFill>
                  <a:srgbClr val="000000">
                    <a:lumMod val="75000"/>
                    <a:lumOff val="2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67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cxnSp>
              <p:nvCxnSpPr>
                <p:cNvPr id="46" name="直接连接符 45">
                  <a:extLst>
                    <a:ext uri="{FF2B5EF4-FFF2-40B4-BE49-F238E27FC236}">
                      <a16:creationId xmlns:a16="http://schemas.microsoft.com/office/drawing/2014/main" id="{1493FC4D-B150-040A-64A6-75F1F89C1318}"/>
                    </a:ext>
                  </a:extLst>
                </p:cNvPr>
                <p:cNvCxnSpPr/>
                <p:nvPr/>
              </p:nvCxnSpPr>
              <p:spPr>
                <a:xfrm>
                  <a:off x="4586152" y="4338634"/>
                  <a:ext cx="0" cy="132261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>
                      <a:lumMod val="75000"/>
                      <a:lumOff val="25000"/>
                    </a:srgbClr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7" name="文本框 3">
                  <a:extLst>
                    <a:ext uri="{FF2B5EF4-FFF2-40B4-BE49-F238E27FC236}">
                      <a16:creationId xmlns:a16="http://schemas.microsoft.com/office/drawing/2014/main" id="{DABF2C54-89A4-7952-0083-5C466BF0B62E}"/>
                    </a:ext>
                  </a:extLst>
                </p:cNvPr>
                <p:cNvSpPr txBox="1"/>
                <p:nvPr/>
              </p:nvSpPr>
              <p:spPr>
                <a:xfrm>
                  <a:off x="2601422" y="4437112"/>
                  <a:ext cx="1980029" cy="13234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r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内涵</a:t>
                  </a:r>
                  <a:endPara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  <a:p>
                  <a:pPr marL="0" marR="0" lvl="0" indent="0" algn="r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接入和使用后的</a:t>
                  </a:r>
                  <a:endPara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  <a:p>
                  <a:pPr marL="0" marR="0" lvl="0" indent="0" algn="r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社会影响</a:t>
                  </a:r>
                  <a:endPara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  <a:p>
                  <a:pPr marL="0" marR="0" lvl="0" indent="0" algn="r" defTabSz="457189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经济影响</a:t>
                  </a:r>
                </a:p>
              </p:txBody>
            </p:sp>
          </p:grpSp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DF9FDB6-09CA-EF1A-4310-6BFDF50A2A54}"/>
                </a:ext>
              </a:extLst>
            </p:cNvPr>
            <p:cNvSpPr txBox="1"/>
            <p:nvPr/>
          </p:nvSpPr>
          <p:spPr>
            <a:xfrm>
              <a:off x="3610228" y="1764034"/>
              <a:ext cx="15319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一级鸿沟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3FF3B0A-7D9C-D10D-C556-2D9286E02C1A}"/>
                </a:ext>
              </a:extLst>
            </p:cNvPr>
            <p:cNvSpPr txBox="1"/>
            <p:nvPr/>
          </p:nvSpPr>
          <p:spPr>
            <a:xfrm>
              <a:off x="6498418" y="1716574"/>
              <a:ext cx="15319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二级鸿沟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1C6E2F45-C42A-62D6-CBC8-9964D6F651C9}"/>
                </a:ext>
              </a:extLst>
            </p:cNvPr>
            <p:cNvSpPr txBox="1"/>
            <p:nvPr/>
          </p:nvSpPr>
          <p:spPr>
            <a:xfrm>
              <a:off x="9188187" y="1683643"/>
              <a:ext cx="15319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三级鸿沟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E7D0D3E-937C-F63B-15C8-63BBC5325078}"/>
                </a:ext>
              </a:extLst>
            </p:cNvPr>
            <p:cNvSpPr txBox="1"/>
            <p:nvPr/>
          </p:nvSpPr>
          <p:spPr>
            <a:xfrm>
              <a:off x="2068146" y="5077203"/>
              <a:ext cx="26137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(Dewan S&amp; Riggins F J</a:t>
              </a:r>
              <a:r>
                <a:rPr lang="zh-CN" altLang="en-US" sz="14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</a:t>
              </a:r>
              <a:r>
                <a:rPr lang="en-US" altLang="zh-CN" sz="14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2005)</a:t>
              </a:r>
              <a:endParaRPr lang="zh-CN" altLang="en-US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D3E88A5-8A03-E7BA-548D-D3D3679B8F8C}"/>
                </a:ext>
              </a:extLst>
            </p:cNvPr>
            <p:cNvSpPr txBox="1"/>
            <p:nvPr/>
          </p:nvSpPr>
          <p:spPr>
            <a:xfrm>
              <a:off x="5142160" y="5077203"/>
              <a:ext cx="28500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nl-NL" sz="14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nl-NL" altLang="zh-CN" sz="14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Van Deursen&amp; Van Dijk</a:t>
              </a:r>
              <a:r>
                <a:rPr lang="zh-CN" altLang="nl-NL" sz="14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</a:t>
              </a:r>
              <a:r>
                <a:rPr lang="nl-NL" altLang="zh-CN" sz="14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2014</a:t>
              </a:r>
              <a:r>
                <a:rPr lang="zh-CN" altLang="nl-NL" sz="14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  <a:endParaRPr lang="zh-CN" altLang="en-US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8CB9D9F-07CE-7141-69F6-CB98260FF7D5}"/>
                </a:ext>
              </a:extLst>
            </p:cNvPr>
            <p:cNvSpPr txBox="1"/>
            <p:nvPr/>
          </p:nvSpPr>
          <p:spPr>
            <a:xfrm>
              <a:off x="9085193" y="5082785"/>
              <a:ext cx="28500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（胡延平</a:t>
              </a:r>
              <a:r>
                <a:rPr lang="en-US" altLang="zh-CN" sz="14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,2002</a:t>
              </a:r>
              <a:r>
                <a:rPr lang="zh-CN" altLang="en-US" sz="14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5E30ED89-811F-862D-2F43-DAF228A1BB8C}"/>
              </a:ext>
            </a:extLst>
          </p:cNvPr>
          <p:cNvSpPr txBox="1"/>
          <p:nvPr/>
        </p:nvSpPr>
        <p:spPr>
          <a:xfrm>
            <a:off x="1067792" y="5140328"/>
            <a:ext cx="10056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总之，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数字鸿沟是一个多维度和多层次的概念，包括一系列复杂的分类，涵盖数字媒体访问、使用和结果。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Lythreatis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et al.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2022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517263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内容占位符 2"/>
          <p:cNvSpPr txBox="1"/>
          <p:nvPr/>
        </p:nvSpPr>
        <p:spPr>
          <a:xfrm>
            <a:off x="422104" y="2045300"/>
            <a:ext cx="10858500" cy="324404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我国接入层差距已显著缩小 ，但更深层的挑战浮现：接入的普及并未自动带来使用的效益均等和结果的公平正义。鸿沟议题随之升级，倒逼治理思路从铺网线转向促公平。</a:t>
            </a: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sp>
        <p:nvSpPr>
          <p:cNvPr id="55" name="内容占位符 1"/>
          <p:cNvSpPr txBox="1"/>
          <p:nvPr/>
        </p:nvSpPr>
        <p:spPr>
          <a:xfrm>
            <a:off x="439368" y="1427754"/>
            <a:ext cx="10674350" cy="370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3358E">
                    <a:lumMod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从接入普及到红利失衡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3" name="组合 2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dk2">
                  <a:lumMod val="60000"/>
                  <a:lumOff val="40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dk2">
                  <a:lumMod val="75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03358E"/>
                  </a:gs>
                  <a:gs pos="100000">
                    <a:srgbClr val="03358E">
                      <a:lumMod val="40000"/>
                      <a:lumOff val="6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36"/>
            <p:cNvSpPr txBox="1"/>
            <p:nvPr/>
          </p:nvSpPr>
          <p:spPr>
            <a:xfrm>
              <a:off x="1163452" y="260648"/>
              <a:ext cx="3831818" cy="561692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3358E">
                      <a:lumMod val="100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数字鸿沟的选题意义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3358E">
                    <a:lumMod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Text 7">
            <a:extLst>
              <a:ext uri="{FF2B5EF4-FFF2-40B4-BE49-F238E27FC236}">
                <a16:creationId xmlns:a16="http://schemas.microsoft.com/office/drawing/2014/main" id="{3DD625AE-6A87-4D5A-B2D4-B7254C4F9047}"/>
              </a:ext>
            </a:extLst>
          </p:cNvPr>
          <p:cNvSpPr/>
          <p:nvPr/>
        </p:nvSpPr>
        <p:spPr>
          <a:xfrm>
            <a:off x="641791" y="3356992"/>
            <a:ext cx="473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itchFamily="34" charset="-120"/>
              </a:rPr>
              <a:t>早期挑战：接入鸿沟</a:t>
            </a:r>
            <a:endParaRPr lang="en-US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628CC475-263E-4A8D-B515-19C5C7C437F6}"/>
              </a:ext>
            </a:extLst>
          </p:cNvPr>
          <p:cNvSpPr/>
          <p:nvPr/>
        </p:nvSpPr>
        <p:spPr>
          <a:xfrm>
            <a:off x="641790" y="3712592"/>
            <a:ext cx="6030274" cy="50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C3542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Noto Sans SC" pitchFamily="34" charset="-120"/>
              </a:rPr>
              <a:t>政策聚焦于基站建设、设备普及，解决“有没有”的问题。</a:t>
            </a:r>
            <a:endParaRPr 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B73AAC0A-3CFE-4F47-A6A1-07D4E0A20A46}"/>
              </a:ext>
            </a:extLst>
          </p:cNvPr>
          <p:cNvSpPr/>
          <p:nvPr/>
        </p:nvSpPr>
        <p:spPr>
          <a:xfrm>
            <a:off x="641791" y="4576192"/>
            <a:ext cx="544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itchFamily="34" charset="-120"/>
              </a:rPr>
              <a:t>当前挑战：红利失衡</a:t>
            </a:r>
            <a:endParaRPr lang="en-US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806CC7F9-4E64-4F3F-ACFA-F1738078A59A}"/>
              </a:ext>
            </a:extLst>
          </p:cNvPr>
          <p:cNvSpPr/>
          <p:nvPr/>
        </p:nvSpPr>
        <p:spPr>
          <a:xfrm>
            <a:off x="641790" y="5157192"/>
            <a:ext cx="6030274" cy="48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 err="1">
                <a:solidFill>
                  <a:srgbClr val="3C354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焦点转向技能差异、内容质量、收益分配，解决“好不好”的问题</a:t>
            </a:r>
            <a:r>
              <a:rPr lang="en-US" dirty="0">
                <a:solidFill>
                  <a:srgbClr val="3C354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08A03BA-2675-BB46-30F8-9E4713EBE8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524" y="3150859"/>
            <a:ext cx="3816424" cy="32308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gallery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0056" y="2060848"/>
            <a:ext cx="5097441" cy="507245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6042" y="22393"/>
            <a:ext cx="5097441" cy="5072454"/>
          </a:xfrm>
          <a:prstGeom prst="rect">
            <a:avLst/>
          </a:prstGeom>
        </p:spPr>
      </p:pic>
      <p:sp>
        <p:nvSpPr>
          <p:cNvPr id="2" name="任意多边形: 形状 1"/>
          <p:cNvSpPr/>
          <p:nvPr/>
        </p:nvSpPr>
        <p:spPr>
          <a:xfrm>
            <a:off x="0" y="1917472"/>
            <a:ext cx="10647949" cy="2952329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gradFill flip="none" rotWithShape="1">
            <a:gsLst>
              <a:gs pos="0">
                <a:schemeClr val="dk2">
                  <a:lumMod val="100000"/>
                </a:schemeClr>
              </a:gs>
              <a:gs pos="42000">
                <a:schemeClr val="dk2">
                  <a:lumMod val="100000"/>
                </a:schemeClr>
              </a:gs>
              <a:gs pos="74000">
                <a:schemeClr val="dk2">
                  <a:lumMod val="100000"/>
                </a:schemeClr>
              </a:gs>
              <a:gs pos="100000">
                <a:schemeClr val="dk2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7824190" y="2100860"/>
            <a:ext cx="3282569" cy="2664296"/>
            <a:chOff x="6103143" y="2244876"/>
            <a:chExt cx="2927697" cy="2376264"/>
          </a:xfrm>
        </p:grpSpPr>
        <p:sp>
          <p:nvSpPr>
            <p:cNvPr id="8" name="椭圆 7"/>
            <p:cNvSpPr/>
            <p:nvPr/>
          </p:nvSpPr>
          <p:spPr>
            <a:xfrm>
              <a:off x="6103143" y="2244876"/>
              <a:ext cx="2376264" cy="2376264"/>
            </a:xfrm>
            <a:prstGeom prst="ellipse">
              <a:avLst/>
            </a:prstGeom>
            <a:solidFill>
              <a:schemeClr val="lt1">
                <a:lumMod val="100000"/>
              </a:schemeClr>
            </a:solidFill>
            <a:ln>
              <a:solidFill>
                <a:schemeClr val="dk2">
                  <a:lumMod val="10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TextBox 21"/>
            <p:cNvSpPr txBox="1"/>
            <p:nvPr/>
          </p:nvSpPr>
          <p:spPr>
            <a:xfrm>
              <a:off x="6204439" y="2990371"/>
              <a:ext cx="2826401" cy="885273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>
                      <a:lumMod val="100000"/>
                    </a:schemeClr>
                  </a:solidFill>
                  <a:effectLst/>
                  <a:uLnTx/>
                  <a:uFillTx/>
                  <a:latin typeface="AvantGarde Md BT" pitchFamily="34" charset="0"/>
                  <a:ea typeface="微软雅黑" panose="020B0503020204020204" pitchFamily="34" charset="-122"/>
                  <a:cs typeface="+mn-cs"/>
                </a:rPr>
                <a:t>第二章</a:t>
              </a:r>
              <a:endPara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vantGarde Md BT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TextBox 4"/>
          <p:cNvSpPr txBox="1"/>
          <p:nvPr/>
        </p:nvSpPr>
        <p:spPr>
          <a:xfrm>
            <a:off x="282146" y="2993969"/>
            <a:ext cx="7063472" cy="900246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b="1" dirty="0">
                <a:solidFill>
                  <a:srgbClr val="FFFFFF"/>
                </a:solidFill>
                <a:latin typeface="AvantGarde Md BT" pitchFamily="34" charset="0"/>
                <a:ea typeface="微软雅黑" panose="020B0503020204020204" pitchFamily="34" charset="-122"/>
              </a:rPr>
              <a:t>数字鸿沟相关理论基础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内容占位符 2"/>
          <p:cNvSpPr txBox="1"/>
          <p:nvPr/>
        </p:nvSpPr>
        <p:spPr>
          <a:xfrm>
            <a:off x="515404" y="1556792"/>
            <a:ext cx="10858500" cy="602424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社会分层理论认为社会资源的分配是不平等的，形成具有不同机会与限制的阶层结构（</a:t>
            </a:r>
            <a:r>
              <a:rPr lang="en-US" altLang="zh-CN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Weber,1994</a:t>
            </a: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）。</a:t>
            </a:r>
            <a:endParaRPr lang="en-US" altLang="zh-CN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0" fontAlgn="auto">
              <a:lnSpc>
                <a:spcPct val="150000"/>
              </a:lnSpc>
              <a:spcBef>
                <a:spcPts val="0"/>
              </a:spcBef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社会分层结构：</a:t>
            </a:r>
            <a:endParaRPr lang="en-US" altLang="zh-CN" sz="1600" dirty="0">
              <a:solidFill>
                <a:srgbClr val="FFC000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indent="457200">
              <a:lnSpc>
                <a:spcPct val="150000"/>
              </a:lnSpc>
              <a:spcBef>
                <a:spcPts val="0"/>
              </a:spcBef>
            </a:pPr>
            <a:r>
              <a:rPr lang="zh-CN" altLang="en-US" sz="1600" b="1" dirty="0">
                <a:latin typeface="华文中宋" panose="02010600040101010101" charset="-122"/>
                <a:ea typeface="华文中宋" panose="02010600040101010101" charset="-122"/>
              </a:rPr>
              <a:t>社会分层理论</a:t>
            </a: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强调的</a:t>
            </a:r>
            <a:r>
              <a:rPr lang="zh-CN" altLang="en-US" sz="1600" b="1" dirty="0">
                <a:latin typeface="华文中宋" panose="02010600040101010101" charset="-122"/>
                <a:ea typeface="华文中宋" panose="02010600040101010101" charset="-122"/>
              </a:rPr>
              <a:t>地位、权力、财富</a:t>
            </a: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也正是数字鸿沟形成的重要因素。</a:t>
            </a:r>
            <a:endParaRPr lang="en-US" altLang="zh-CN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indent="457200">
              <a:lnSpc>
                <a:spcPct val="150000"/>
              </a:lnSpc>
              <a:spcBef>
                <a:spcPts val="0"/>
              </a:spcBef>
            </a:pPr>
            <a:r>
              <a:rPr lang="zh-CN" altLang="en-US" sz="1600" b="1" dirty="0">
                <a:latin typeface="华文中宋" panose="02010600040101010101" charset="-122"/>
                <a:ea typeface="华文中宋" panose="02010600040101010101" charset="-122"/>
              </a:rPr>
              <a:t>数字鸿沟</a:t>
            </a: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被视为</a:t>
            </a:r>
            <a:r>
              <a:rPr lang="zh-CN" altLang="en-US" sz="1600" b="1" dirty="0">
                <a:latin typeface="华文中宋" panose="02010600040101010101" charset="-122"/>
                <a:ea typeface="华文中宋" panose="02010600040101010101" charset="-122"/>
              </a:rPr>
              <a:t>社会分层</a:t>
            </a: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在数字时代的延伸与再现。</a:t>
            </a:r>
            <a:endParaRPr lang="en-US" altLang="zh-CN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indent="457200">
              <a:lnSpc>
                <a:spcPct val="150000"/>
              </a:lnSpc>
              <a:spcBef>
                <a:spcPts val="0"/>
              </a:spcBef>
            </a:pPr>
            <a:r>
              <a:rPr lang="zh-CN" altLang="en-US" sz="1600" b="1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社会经济地位较高、权力更大、财富更多</a:t>
            </a:r>
            <a:r>
              <a:rPr lang="zh-CN" altLang="en-US" sz="16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的阶层</a:t>
            </a: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，在获取</a:t>
            </a:r>
            <a:r>
              <a:rPr lang="zh-CN" altLang="en-US" sz="1600" b="1" dirty="0">
                <a:latin typeface="华文中宋" panose="02010600040101010101" charset="-122"/>
                <a:ea typeface="华文中宋" panose="02010600040101010101" charset="-122"/>
              </a:rPr>
              <a:t>数字设备、高速网络、优质数字服务</a:t>
            </a: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方面拥有显著</a:t>
            </a:r>
            <a:r>
              <a:rPr lang="zh-CN" altLang="en-US" sz="16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优势</a:t>
            </a: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，从而巩固甚至扩大其既有优势。</a:t>
            </a:r>
            <a:endParaRPr lang="en-US" altLang="zh-CN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不平等循环：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华文中宋" panose="02010600040101010101" charset="-122"/>
              <a:ea typeface="华文中宋" panose="02010600040101010101" charset="-122"/>
              <a:cs typeface="+mn-cs"/>
            </a:endParaRPr>
          </a:p>
          <a:p>
            <a:pPr indent="457200"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技术的演进加深了权能的不平等，知识水平和财富的差距造成信息技术接触和使用方面的不平等，进而使社会弱势群体由于缺乏数字技术而失去诸多新机遇（刘淼，喻国明，</a:t>
            </a:r>
            <a:r>
              <a:rPr lang="en-US" altLang="zh-CN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2021</a:t>
            </a: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）</a:t>
            </a:r>
            <a:endParaRPr lang="en-US" altLang="zh-CN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indent="457200"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信息分化与社会经济地位差别互相塑造，信息分化使社会经济地位差别更为明显，社会经济地位差别也使信息分化更为显著，作为普惠性的“接入沟”正在改善，但使用沟的差异化程度越来越显著。（沈艳，</a:t>
            </a:r>
            <a:r>
              <a:rPr lang="en-US" altLang="zh-CN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2022</a:t>
            </a: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）</a:t>
            </a:r>
          </a:p>
          <a:p>
            <a:pPr indent="457200">
              <a:lnSpc>
                <a:spcPct val="150000"/>
              </a:lnSpc>
              <a:spcBef>
                <a:spcPts val="0"/>
              </a:spcBef>
            </a:pPr>
            <a:endParaRPr lang="en-US" altLang="zh-CN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5" name="内容占位符 1"/>
          <p:cNvSpPr txBox="1"/>
          <p:nvPr/>
        </p:nvSpPr>
        <p:spPr>
          <a:xfrm>
            <a:off x="454363" y="1121116"/>
            <a:ext cx="10858500" cy="370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社会分层再生产数字不平等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既有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社会分层结构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在数字时代被映射和放大，形成新的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不平等循环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99356" y="260648"/>
            <a:ext cx="8543121" cy="682262"/>
            <a:chOff x="299356" y="260648"/>
            <a:chExt cx="8543121" cy="682262"/>
          </a:xfrm>
        </p:grpSpPr>
        <p:grpSp>
          <p:nvGrpSpPr>
            <p:cNvPr id="3" name="组合 2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dk2">
                  <a:lumMod val="60000"/>
                  <a:lumOff val="40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dk2">
                  <a:lumMod val="75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03358E"/>
                  </a:gs>
                  <a:gs pos="100000">
                    <a:srgbClr val="03358E">
                      <a:lumMod val="40000"/>
                      <a:lumOff val="6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36"/>
            <p:cNvSpPr txBox="1"/>
            <p:nvPr/>
          </p:nvSpPr>
          <p:spPr>
            <a:xfrm>
              <a:off x="1163452" y="404793"/>
              <a:ext cx="7679025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 algn="l"/>
              <a:r>
                <a:rPr lang="zh-CN" altLang="en-US" sz="2800" b="1" dirty="0">
                  <a:solidFill>
                    <a:schemeClr val="dk2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一、社会分层理论：数字不平等与数字资源分配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F0416-D9F3-8182-82AC-E47CB29C1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28073334-77B2-4790-DC96-EB160B9A285B}"/>
              </a:ext>
            </a:extLst>
          </p:cNvPr>
          <p:cNvSpPr txBox="1"/>
          <p:nvPr/>
        </p:nvSpPr>
        <p:spPr>
          <a:xfrm>
            <a:off x="605735" y="1492609"/>
            <a:ext cx="5346249" cy="602424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不平等循环：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       同时，随着人工智能的快速发展，生成式人工智能融入社会生活、参与知识生产，同时在塑造新的数字不平等现象，如何应对人工智能的新挑战并在顶层设计中纳入“智能沟”治理议程，是中国经济社会转型下一阶段不容忽视的关键问题。（林晶珂，贾鹤鹏，</a:t>
            </a:r>
            <a:r>
              <a:rPr lang="en-US" altLang="zh-CN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2024</a:t>
            </a: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）</a:t>
            </a:r>
            <a:endParaRPr lang="en-US" altLang="zh-CN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数字社会分层会发展出数字不平等，数字不平等对数字鸿沟既具有继承性，又有其独特性。（许庆红，</a:t>
            </a:r>
            <a:r>
              <a:rPr lang="en-US" altLang="zh-CN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2017</a:t>
            </a: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）</a:t>
            </a:r>
            <a:endParaRPr lang="en-US" altLang="zh-CN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     中国居民消费行为深受数字鸿沟和数字红利的双重影响，数字鸿沟主要抑制了中部地区和升级型消费行为的提振。促进数字红利均衡释放、缩小数字鸿沟对优化消费结构、推动消费市场良性发展具有重要意义。（曹彦君，</a:t>
            </a:r>
            <a:r>
              <a:rPr lang="en-US" altLang="zh-CN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2025</a:t>
            </a:r>
          </a:p>
        </p:txBody>
      </p:sp>
      <p:sp>
        <p:nvSpPr>
          <p:cNvPr id="55" name="内容占位符 1">
            <a:extLst>
              <a:ext uri="{FF2B5EF4-FFF2-40B4-BE49-F238E27FC236}">
                <a16:creationId xmlns:a16="http://schemas.microsoft.com/office/drawing/2014/main" id="{3AFFDDF8-63B8-A174-0113-F6DBDECEAA20}"/>
              </a:ext>
            </a:extLst>
          </p:cNvPr>
          <p:cNvSpPr txBox="1"/>
          <p:nvPr/>
        </p:nvSpPr>
        <p:spPr>
          <a:xfrm>
            <a:off x="439368" y="1125494"/>
            <a:ext cx="10858500" cy="370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社会分层再生产数字不平等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既有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社会分层结构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在数字时代被映射和放大，形成新的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不平等循环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204E1F2-C048-4DCB-F478-5DF3716695BA}"/>
              </a:ext>
            </a:extLst>
          </p:cNvPr>
          <p:cNvGrpSpPr/>
          <p:nvPr/>
        </p:nvGrpSpPr>
        <p:grpSpPr>
          <a:xfrm>
            <a:off x="299356" y="260648"/>
            <a:ext cx="8543121" cy="682262"/>
            <a:chOff x="299356" y="260648"/>
            <a:chExt cx="8543121" cy="68226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46023EA6-06AF-E48F-3365-4290DFB79E21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C039548-996E-B8DD-5293-3DC4D788E424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dk2">
                  <a:lumMod val="60000"/>
                  <a:lumOff val="40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01155E7C-604B-9A5A-199A-A47C8BF57CA5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dk2">
                  <a:lumMod val="75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702F85B6-4D4F-A3B2-00C7-0A8BF923355A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03358E"/>
                  </a:gs>
                  <a:gs pos="100000">
                    <a:srgbClr val="03358E">
                      <a:lumMod val="40000"/>
                      <a:lumOff val="6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36">
              <a:extLst>
                <a:ext uri="{FF2B5EF4-FFF2-40B4-BE49-F238E27FC236}">
                  <a16:creationId xmlns:a16="http://schemas.microsoft.com/office/drawing/2014/main" id="{4CA9140B-CE01-12C4-7D0B-2D43878165BB}"/>
                </a:ext>
              </a:extLst>
            </p:cNvPr>
            <p:cNvSpPr txBox="1"/>
            <p:nvPr/>
          </p:nvSpPr>
          <p:spPr>
            <a:xfrm>
              <a:off x="1163452" y="404793"/>
              <a:ext cx="7679025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 algn="l"/>
              <a:r>
                <a:rPr lang="zh-CN" altLang="en-US" sz="2800" b="1" dirty="0">
                  <a:solidFill>
                    <a:schemeClr val="dk2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一、社会分层理论：数字不平等与数字资源分配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8F7124E0-AA63-010E-F2BF-AA4D0E5BD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28793"/>
            <a:ext cx="5523809" cy="1428199"/>
          </a:xfrm>
          <a:prstGeom prst="rect">
            <a:avLst/>
          </a:prstGeom>
          <a:ln w="28575">
            <a:solidFill>
              <a:srgbClr val="00B0F0"/>
            </a:solidFill>
            <a:prstDash val="lgDashDot"/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4FEEB11-9ED7-68B8-9D03-A2535C19C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8351" y="4058949"/>
            <a:ext cx="5679644" cy="1881600"/>
          </a:xfrm>
          <a:prstGeom prst="rect">
            <a:avLst/>
          </a:prstGeom>
          <a:ln w="28575">
            <a:solidFill>
              <a:srgbClr val="00B0F0"/>
            </a:solidFill>
            <a:prstDash val="lgDashDot"/>
          </a:ln>
        </p:spPr>
      </p:pic>
    </p:spTree>
    <p:extLst>
      <p:ext uri="{BB962C8B-B14F-4D97-AF65-F5344CB8AC3E}">
        <p14:creationId xmlns:p14="http://schemas.microsoft.com/office/powerpoint/2010/main" val="2225016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02F03-ED6A-D81F-07BF-48DCC5B4C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B61E6DAD-F06B-FDAF-847D-181A115C2527}"/>
              </a:ext>
            </a:extLst>
          </p:cNvPr>
          <p:cNvSpPr txBox="1"/>
          <p:nvPr/>
        </p:nvSpPr>
        <p:spPr>
          <a:xfrm>
            <a:off x="764301" y="1495995"/>
            <a:ext cx="10692133" cy="2869109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不平等循环：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       数字消费与数字鸿沟在电商经济中密切关联。数字消费并未实现空间平等，反而因产业集聚与运费层级差异，形成以“包邮国”为中心的差序格局，导致偏远地区消费者面临权益受损与服务落差，从而揭示了数字鸿沟在消费领域的新形态</a:t>
            </a:r>
            <a:r>
              <a:rPr lang="en-US" altLang="zh-CN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——</a:t>
            </a: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地理边缘性转化为系统性不平等（钱霖亮，</a:t>
            </a:r>
            <a:r>
              <a:rPr lang="en-US" altLang="zh-CN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2023</a:t>
            </a: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）</a:t>
            </a:r>
            <a:endParaRPr lang="en-US" altLang="zh-CN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公共管理的核心任务：</a:t>
            </a:r>
            <a:endParaRPr lang="en-US" altLang="zh-CN" sz="16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从“技术中心主义”转向“社会中心主义” ，设计出能够干预深层社会结构的系统性政策，应对导致数字鸿沟的根源性社会分层问题，从而在数字时代构建一个更加公平、包容的社会。</a:t>
            </a:r>
            <a:endParaRPr lang="en-US" altLang="zh-CN" sz="1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5" name="内容占位符 1">
            <a:extLst>
              <a:ext uri="{FF2B5EF4-FFF2-40B4-BE49-F238E27FC236}">
                <a16:creationId xmlns:a16="http://schemas.microsoft.com/office/drawing/2014/main" id="{D4859F72-DF75-3464-56C8-014926AA265A}"/>
              </a:ext>
            </a:extLst>
          </p:cNvPr>
          <p:cNvSpPr txBox="1"/>
          <p:nvPr/>
        </p:nvSpPr>
        <p:spPr>
          <a:xfrm>
            <a:off x="439368" y="1125494"/>
            <a:ext cx="10858500" cy="370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社会分层再生产数字不平等，既有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社会分层结构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在数字时代被映射和放大，形成新的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不平等循环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8A7B1D7-D897-226E-900C-AECF27E89D7F}"/>
              </a:ext>
            </a:extLst>
          </p:cNvPr>
          <p:cNvGrpSpPr/>
          <p:nvPr/>
        </p:nvGrpSpPr>
        <p:grpSpPr>
          <a:xfrm>
            <a:off x="299356" y="260648"/>
            <a:ext cx="8543121" cy="682262"/>
            <a:chOff x="299356" y="260648"/>
            <a:chExt cx="8543121" cy="68226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1EB5F2CC-3232-E80F-619B-63AA80A3E0F6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235027B-462F-4E11-62E2-7073B8140758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dk2">
                  <a:lumMod val="60000"/>
                  <a:lumOff val="40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2ABE6DA-8D4D-A20A-C513-D163663059F2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dk2">
                  <a:lumMod val="75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8BDC72E9-F549-6145-D9F0-72529EB33297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03358E"/>
                  </a:gs>
                  <a:gs pos="100000">
                    <a:srgbClr val="03358E">
                      <a:lumMod val="40000"/>
                      <a:lumOff val="6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36">
              <a:extLst>
                <a:ext uri="{FF2B5EF4-FFF2-40B4-BE49-F238E27FC236}">
                  <a16:creationId xmlns:a16="http://schemas.microsoft.com/office/drawing/2014/main" id="{58F83A6D-F245-4541-77E1-1FB744F1BC8B}"/>
                </a:ext>
              </a:extLst>
            </p:cNvPr>
            <p:cNvSpPr txBox="1"/>
            <p:nvPr/>
          </p:nvSpPr>
          <p:spPr>
            <a:xfrm>
              <a:off x="1163452" y="404793"/>
              <a:ext cx="7679025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3358E">
                      <a:lumMod val="100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一、社会分层理论：数字不平等与数字资源分配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3861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46943-FB77-9B6F-548F-CD2C17154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C72FBB84-16F7-6F28-CB62-154AF98EE598}"/>
              </a:ext>
            </a:extLst>
          </p:cNvPr>
          <p:cNvSpPr txBox="1"/>
          <p:nvPr/>
        </p:nvSpPr>
        <p:spPr>
          <a:xfrm>
            <a:off x="439420" y="1412875"/>
            <a:ext cx="11331575" cy="521208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457200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网络是获取技术支持、设备共享和信息机会的关键。社会资本丰富的个体，数字赋能更强。数字鸿沟不仅源于物质与人力资本差异，也源于社会资本分布不均。社会网络丰富的个体，更容易通过亲友等强关系网络获得技术支持、设备共享或使用指导</a:t>
            </a:r>
          </a:p>
          <a:p>
            <a:pPr lvl="0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b="1" dirty="0">
                <a:solidFill>
                  <a:srgbClr val="0C0C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</a:rPr>
              <a:t>关系网络：</a:t>
            </a:r>
            <a:endParaRPr lang="en-US" altLang="zh-CN" sz="1600" b="1" dirty="0">
              <a:solidFill>
                <a:srgbClr val="0C0C0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</a:endParaRPr>
          </a:p>
          <a:p>
            <a:pPr lvl="0" indent="457200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强关系网络通过亲友获得技术指导与设备支持，弱关系网络获取更广泛的信息、机会与创新扩散。数字排斥也是数字鸿沟的核心关切之一，当前数字排斥有多种类型、如数字金融排斥、公共服务排斥、健康排斥等。</a:t>
            </a:r>
            <a:endParaRPr lang="en-US" altLang="zh-CN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lvl="0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b="1" dirty="0">
                <a:solidFill>
                  <a:srgbClr val="0C0C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</a:rPr>
              <a:t>数字排斥与数字鸿沟：</a:t>
            </a:r>
            <a:endParaRPr lang="en-US" altLang="zh-CN" sz="1600" b="1" dirty="0">
              <a:solidFill>
                <a:srgbClr val="0C0C0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</a:endParaRPr>
          </a:p>
          <a:p>
            <a:pPr lvl="0" indent="457200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数字排斥也是数字鸿沟的核心关切之一，当前数字排斥有多种类型、如数字金融排斥、公共服务排斥、健康排斥等。数字金融虽为农村家庭提供了更具包容性的发展机遇，但也可能因高利率带来的价格排斥、低社会信任导致的自我排斥，以及设备和网络普及不均产生的工具排斥，形成新的数字鸿沟。不同群体在数字接入、使用能力与技术适应方面的差异，可能通过信息获取、资源配置和社会支持等途径进一步放大健康差距，这也即是数字鸿沟引起的健康排斥如何使得数字排斥转向数字赋能，是当前研究的重要课题之一。</a:t>
            </a:r>
            <a:endParaRPr lang="en-US" altLang="zh-CN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b="1" dirty="0">
                <a:solidFill>
                  <a:srgbClr val="0C0C0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公共政策的核心任务：</a:t>
            </a:r>
            <a:endParaRPr lang="en-US" altLang="zh-CN" sz="1600" b="1" dirty="0">
              <a:solidFill>
                <a:srgbClr val="0C0C0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识别并疏通社会资本薄弱环节，将关系网络转化为可持续的数字包容动力，从而治理数字鸿沟背后的系统性社会排斥。</a:t>
            </a:r>
            <a:endParaRPr lang="en-US" altLang="zh-CN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lvl="0" fontAlgn="auto">
              <a:lnSpc>
                <a:spcPct val="150000"/>
              </a:lnSpc>
              <a:spcBef>
                <a:spcPts val="0"/>
              </a:spcBef>
            </a:pPr>
            <a:endParaRPr lang="zh-CN" altLang="en-US" sz="1600" b="1" dirty="0">
              <a:solidFill>
                <a:srgbClr val="0C0C0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</a:endParaRPr>
          </a:p>
          <a:p>
            <a:pPr lvl="0" fontAlgn="auto">
              <a:lnSpc>
                <a:spcPct val="150000"/>
              </a:lnSpc>
              <a:spcBef>
                <a:spcPts val="0"/>
              </a:spcBef>
            </a:pPr>
            <a:endParaRPr lang="zh-CN" altLang="en-US" sz="1600" b="1" dirty="0">
              <a:solidFill>
                <a:srgbClr val="0C0C0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</a:endParaRPr>
          </a:p>
          <a:p>
            <a:pPr lvl="0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b="1" dirty="0">
              <a:solidFill>
                <a:srgbClr val="0C0C0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</a:endParaRPr>
          </a:p>
          <a:p>
            <a:pPr lvl="0" fontAlgn="auto">
              <a:lnSpc>
                <a:spcPct val="150000"/>
              </a:lnSpc>
              <a:spcBef>
                <a:spcPts val="0"/>
              </a:spcBef>
            </a:pPr>
            <a:endParaRPr lang="zh-CN" altLang="en-US" sz="1600" b="1" dirty="0">
              <a:solidFill>
                <a:srgbClr val="0C0C0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</a:endParaRPr>
          </a:p>
          <a:p>
            <a:pPr lvl="0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b="1" dirty="0">
              <a:solidFill>
                <a:srgbClr val="0C0C0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</a:endParaRPr>
          </a:p>
        </p:txBody>
      </p:sp>
      <p:sp>
        <p:nvSpPr>
          <p:cNvPr id="55" name="内容占位符 1">
            <a:extLst>
              <a:ext uri="{FF2B5EF4-FFF2-40B4-BE49-F238E27FC236}">
                <a16:creationId xmlns:a16="http://schemas.microsoft.com/office/drawing/2014/main" id="{E20891DA-8A71-7FA5-3CCA-1AACB7F95345}"/>
              </a:ext>
            </a:extLst>
          </p:cNvPr>
          <p:cNvSpPr txBox="1"/>
          <p:nvPr/>
        </p:nvSpPr>
        <p:spPr>
          <a:xfrm>
            <a:off x="439368" y="1125494"/>
            <a:ext cx="10674350" cy="370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社会资本决定数字赋能差异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000" dirty="0">
              <a:solidFill>
                <a:schemeClr val="dk2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chemeClr val="dk2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left-quotes_39368">
            <a:extLst>
              <a:ext uri="{FF2B5EF4-FFF2-40B4-BE49-F238E27FC236}">
                <a16:creationId xmlns:a16="http://schemas.microsoft.com/office/drawing/2014/main" id="{115E30F5-C493-D423-C834-7A1F779F272C}"/>
              </a:ext>
            </a:extLst>
          </p:cNvPr>
          <p:cNvSpPr>
            <a:spLocks noChangeAspect="1"/>
          </p:cNvSpPr>
          <p:nvPr/>
        </p:nvSpPr>
        <p:spPr bwMode="auto">
          <a:xfrm flipH="1" flipV="1">
            <a:off x="10478997" y="5285220"/>
            <a:ext cx="894907" cy="867953"/>
          </a:xfrm>
          <a:custGeom>
            <a:avLst/>
            <a:gdLst>
              <a:gd name="T0" fmla="*/ 108 w 314"/>
              <a:gd name="T1" fmla="*/ 0 h 305"/>
              <a:gd name="T2" fmla="*/ 144 w 314"/>
              <a:gd name="T3" fmla="*/ 2 h 305"/>
              <a:gd name="T4" fmla="*/ 144 w 314"/>
              <a:gd name="T5" fmla="*/ 63 h 305"/>
              <a:gd name="T6" fmla="*/ 70 w 314"/>
              <a:gd name="T7" fmla="*/ 132 h 305"/>
              <a:gd name="T8" fmla="*/ 70 w 314"/>
              <a:gd name="T9" fmla="*/ 159 h 305"/>
              <a:gd name="T10" fmla="*/ 122 w 314"/>
              <a:gd name="T11" fmla="*/ 159 h 305"/>
              <a:gd name="T12" fmla="*/ 122 w 314"/>
              <a:gd name="T13" fmla="*/ 305 h 305"/>
              <a:gd name="T14" fmla="*/ 0 w 314"/>
              <a:gd name="T15" fmla="*/ 305 h 305"/>
              <a:gd name="T16" fmla="*/ 0 w 314"/>
              <a:gd name="T17" fmla="*/ 148 h 305"/>
              <a:gd name="T18" fmla="*/ 108 w 314"/>
              <a:gd name="T19" fmla="*/ 0 h 305"/>
              <a:gd name="T20" fmla="*/ 314 w 314"/>
              <a:gd name="T21" fmla="*/ 63 h 305"/>
              <a:gd name="T22" fmla="*/ 314 w 314"/>
              <a:gd name="T23" fmla="*/ 2 h 305"/>
              <a:gd name="T24" fmla="*/ 284 w 314"/>
              <a:gd name="T25" fmla="*/ 0 h 305"/>
              <a:gd name="T26" fmla="*/ 176 w 314"/>
              <a:gd name="T27" fmla="*/ 148 h 305"/>
              <a:gd name="T28" fmla="*/ 176 w 314"/>
              <a:gd name="T29" fmla="*/ 305 h 305"/>
              <a:gd name="T30" fmla="*/ 298 w 314"/>
              <a:gd name="T31" fmla="*/ 305 h 305"/>
              <a:gd name="T32" fmla="*/ 298 w 314"/>
              <a:gd name="T33" fmla="*/ 160 h 305"/>
              <a:gd name="T34" fmla="*/ 246 w 314"/>
              <a:gd name="T35" fmla="*/ 160 h 305"/>
              <a:gd name="T36" fmla="*/ 246 w 314"/>
              <a:gd name="T37" fmla="*/ 132 h 305"/>
              <a:gd name="T38" fmla="*/ 314 w 314"/>
              <a:gd name="T39" fmla="*/ 63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14" h="305">
                <a:moveTo>
                  <a:pt x="108" y="0"/>
                </a:moveTo>
                <a:cubicBezTo>
                  <a:pt x="116" y="0"/>
                  <a:pt x="128" y="1"/>
                  <a:pt x="144" y="2"/>
                </a:cubicBezTo>
                <a:lnTo>
                  <a:pt x="144" y="63"/>
                </a:lnTo>
                <a:cubicBezTo>
                  <a:pt x="94" y="63"/>
                  <a:pt x="70" y="86"/>
                  <a:pt x="70" y="132"/>
                </a:cubicBezTo>
                <a:lnTo>
                  <a:pt x="70" y="159"/>
                </a:lnTo>
                <a:lnTo>
                  <a:pt x="122" y="159"/>
                </a:lnTo>
                <a:lnTo>
                  <a:pt x="122" y="305"/>
                </a:lnTo>
                <a:lnTo>
                  <a:pt x="0" y="305"/>
                </a:lnTo>
                <a:lnTo>
                  <a:pt x="0" y="148"/>
                </a:lnTo>
                <a:cubicBezTo>
                  <a:pt x="0" y="49"/>
                  <a:pt x="36" y="0"/>
                  <a:pt x="108" y="0"/>
                </a:cubicBezTo>
                <a:close/>
                <a:moveTo>
                  <a:pt x="314" y="63"/>
                </a:moveTo>
                <a:lnTo>
                  <a:pt x="314" y="2"/>
                </a:lnTo>
                <a:cubicBezTo>
                  <a:pt x="299" y="1"/>
                  <a:pt x="289" y="0"/>
                  <a:pt x="284" y="0"/>
                </a:cubicBezTo>
                <a:cubicBezTo>
                  <a:pt x="212" y="0"/>
                  <a:pt x="176" y="50"/>
                  <a:pt x="176" y="148"/>
                </a:cubicBezTo>
                <a:lnTo>
                  <a:pt x="176" y="305"/>
                </a:lnTo>
                <a:lnTo>
                  <a:pt x="298" y="305"/>
                </a:lnTo>
                <a:lnTo>
                  <a:pt x="298" y="160"/>
                </a:lnTo>
                <a:lnTo>
                  <a:pt x="246" y="160"/>
                </a:lnTo>
                <a:lnTo>
                  <a:pt x="246" y="132"/>
                </a:lnTo>
                <a:cubicBezTo>
                  <a:pt x="245" y="89"/>
                  <a:pt x="268" y="66"/>
                  <a:pt x="314" y="63"/>
                </a:cubicBezTo>
                <a:close/>
              </a:path>
            </a:pathLst>
          </a:custGeom>
          <a:solidFill>
            <a:schemeClr val="dk2">
              <a:lumMod val="100000"/>
              <a:alpha val="50000"/>
            </a:scheme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469C36F-8BFC-53F1-5EC5-5D9A849128E9}"/>
              </a:ext>
            </a:extLst>
          </p:cNvPr>
          <p:cNvGrpSpPr/>
          <p:nvPr/>
        </p:nvGrpSpPr>
        <p:grpSpPr>
          <a:xfrm>
            <a:off x="299356" y="260648"/>
            <a:ext cx="7671088" cy="682262"/>
            <a:chOff x="299356" y="260648"/>
            <a:chExt cx="7671088" cy="68226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C00BE822-C435-BCBD-8C5E-8E3DCBD87A19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8D8B169-6617-316F-F70F-D8F1C3EB2912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dk2">
                  <a:lumMod val="60000"/>
                  <a:lumOff val="40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0A2A3E7-9633-F20D-5539-3E7021411B08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dk2">
                  <a:lumMod val="75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04B76BD8-FAD5-A1CE-E8FC-8A7CC0EBD7BA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03358E"/>
                  </a:gs>
                  <a:gs pos="100000">
                    <a:srgbClr val="03358E">
                      <a:lumMod val="40000"/>
                      <a:lumOff val="6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36">
              <a:extLst>
                <a:ext uri="{FF2B5EF4-FFF2-40B4-BE49-F238E27FC236}">
                  <a16:creationId xmlns:a16="http://schemas.microsoft.com/office/drawing/2014/main" id="{262E8CA6-A4BD-5BFD-6448-257EFAF4589C}"/>
                </a:ext>
              </a:extLst>
            </p:cNvPr>
            <p:cNvSpPr txBox="1"/>
            <p:nvPr/>
          </p:nvSpPr>
          <p:spPr>
            <a:xfrm>
              <a:off x="1163452" y="404793"/>
              <a:ext cx="6806992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 algn="l"/>
              <a:r>
                <a:rPr lang="zh-CN" altLang="en-US" sz="2800" b="1" dirty="0">
                  <a:solidFill>
                    <a:schemeClr val="dk2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	社会资本理论：关系网络与数字赋能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4562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内容占位符 2"/>
          <p:cNvSpPr txBox="1"/>
          <p:nvPr/>
        </p:nvSpPr>
        <p:spPr>
          <a:xfrm>
            <a:off x="439420" y="1412875"/>
            <a:ext cx="11331575" cy="521208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457200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网络是获取技术支持、设备共享和信息机会的关键。社会资本丰富的个体，数字赋能更强。数字鸿沟不仅源于物质与人力资本差异，也源于社会资本分布不均。社会网络丰富的个体，更容易通过亲友等强关系网络获得技术支持、设备共享或使用指导</a:t>
            </a:r>
          </a:p>
          <a:p>
            <a:pPr lvl="0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b="1" dirty="0">
                <a:solidFill>
                  <a:srgbClr val="0C0C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</a:rPr>
              <a:t>关系网络：</a:t>
            </a:r>
            <a:endParaRPr lang="en-US" altLang="zh-CN" sz="1600" b="1" dirty="0">
              <a:solidFill>
                <a:srgbClr val="0C0C0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</a:endParaRPr>
          </a:p>
          <a:p>
            <a:pPr lvl="0" indent="457200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强关系网络通过亲友获得技术指导与设备支持，弱关系网络获取更广泛的信息、机会与创新扩散。数字排斥也是数字鸿沟的核心关切之一，当前数字排斥有多种类型、如数字金融排斥、公共服务排斥、健康排斥等。</a:t>
            </a:r>
            <a:endParaRPr lang="en-US" altLang="zh-CN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lvl="0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b="1" dirty="0">
                <a:solidFill>
                  <a:srgbClr val="0C0C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中宋" panose="02010600040101010101" charset="-122"/>
              </a:rPr>
              <a:t>数字排斥与数字鸿沟：</a:t>
            </a:r>
            <a:endParaRPr lang="en-US" altLang="zh-CN" sz="1600" b="1" dirty="0">
              <a:solidFill>
                <a:srgbClr val="0C0C0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</a:endParaRPr>
          </a:p>
          <a:p>
            <a:pPr lvl="0" indent="457200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数字排斥也是数字鸿沟的核心关切之一，当前数字排斥有多种类型、如数字金融排斥、公共服务排斥、健康排斥等。数字金融虽为农村家庭提供了更具包容性的发展机遇，但也可能因高利率带来的价格排斥、低社会信任导致的自我排斥，以及设备和网络普及不均产生的工具排斥，形成新的数字鸿沟。不同群体在数字接入、使用能力与技术适应方面的差异，可能通过信息获取、资源配置和社会支持等途径进一步放大健康差距，这也即是数字鸿沟引起的健康排斥如何使得数字排斥转向数字赋能，是当前研究的重要课题之一。</a:t>
            </a:r>
            <a:endParaRPr lang="en-US" altLang="zh-CN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b="1" dirty="0">
                <a:solidFill>
                  <a:srgbClr val="0C0C0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公共政策的核心任务：</a:t>
            </a:r>
            <a:endParaRPr lang="en-US" altLang="zh-CN" sz="1600" b="1" dirty="0">
              <a:solidFill>
                <a:srgbClr val="0C0C0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识别并疏通社会资本薄弱环节，将关系网络转化为可持续的数字包容动力，从而治理数字鸿沟背后的系统性社会排斥。</a:t>
            </a:r>
            <a:endParaRPr lang="en-US" altLang="zh-CN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lvl="0" fontAlgn="auto">
              <a:lnSpc>
                <a:spcPct val="150000"/>
              </a:lnSpc>
              <a:spcBef>
                <a:spcPts val="0"/>
              </a:spcBef>
            </a:pPr>
            <a:endParaRPr lang="zh-CN" altLang="en-US" sz="1600" b="1" dirty="0">
              <a:solidFill>
                <a:srgbClr val="0C0C0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</a:endParaRPr>
          </a:p>
          <a:p>
            <a:pPr lvl="0" fontAlgn="auto">
              <a:lnSpc>
                <a:spcPct val="150000"/>
              </a:lnSpc>
              <a:spcBef>
                <a:spcPts val="0"/>
              </a:spcBef>
            </a:pPr>
            <a:endParaRPr lang="zh-CN" altLang="en-US" sz="1600" b="1" dirty="0">
              <a:solidFill>
                <a:srgbClr val="0C0C0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</a:endParaRPr>
          </a:p>
          <a:p>
            <a:pPr lvl="0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b="1" dirty="0">
              <a:solidFill>
                <a:srgbClr val="0C0C0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</a:endParaRPr>
          </a:p>
          <a:p>
            <a:pPr lvl="0" fontAlgn="auto">
              <a:lnSpc>
                <a:spcPct val="150000"/>
              </a:lnSpc>
              <a:spcBef>
                <a:spcPts val="0"/>
              </a:spcBef>
            </a:pPr>
            <a:endParaRPr lang="zh-CN" altLang="en-US" sz="1600" b="1" dirty="0">
              <a:solidFill>
                <a:srgbClr val="0C0C0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</a:endParaRPr>
          </a:p>
          <a:p>
            <a:pPr lvl="0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b="1" dirty="0">
              <a:solidFill>
                <a:srgbClr val="0C0C0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</a:endParaRPr>
          </a:p>
        </p:txBody>
      </p:sp>
      <p:sp>
        <p:nvSpPr>
          <p:cNvPr id="55" name="内容占位符 1"/>
          <p:cNvSpPr txBox="1"/>
          <p:nvPr/>
        </p:nvSpPr>
        <p:spPr>
          <a:xfrm>
            <a:off x="439368" y="1125494"/>
            <a:ext cx="10674350" cy="370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社会资本决定数字赋能差异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000" dirty="0">
              <a:solidFill>
                <a:schemeClr val="dk2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chemeClr val="dk2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left-quotes_39368"/>
          <p:cNvSpPr>
            <a:spLocks noChangeAspect="1"/>
          </p:cNvSpPr>
          <p:nvPr/>
        </p:nvSpPr>
        <p:spPr bwMode="auto">
          <a:xfrm flipH="1" flipV="1">
            <a:off x="10478997" y="5285220"/>
            <a:ext cx="894907" cy="867953"/>
          </a:xfrm>
          <a:custGeom>
            <a:avLst/>
            <a:gdLst>
              <a:gd name="T0" fmla="*/ 108 w 314"/>
              <a:gd name="T1" fmla="*/ 0 h 305"/>
              <a:gd name="T2" fmla="*/ 144 w 314"/>
              <a:gd name="T3" fmla="*/ 2 h 305"/>
              <a:gd name="T4" fmla="*/ 144 w 314"/>
              <a:gd name="T5" fmla="*/ 63 h 305"/>
              <a:gd name="T6" fmla="*/ 70 w 314"/>
              <a:gd name="T7" fmla="*/ 132 h 305"/>
              <a:gd name="T8" fmla="*/ 70 w 314"/>
              <a:gd name="T9" fmla="*/ 159 h 305"/>
              <a:gd name="T10" fmla="*/ 122 w 314"/>
              <a:gd name="T11" fmla="*/ 159 h 305"/>
              <a:gd name="T12" fmla="*/ 122 w 314"/>
              <a:gd name="T13" fmla="*/ 305 h 305"/>
              <a:gd name="T14" fmla="*/ 0 w 314"/>
              <a:gd name="T15" fmla="*/ 305 h 305"/>
              <a:gd name="T16" fmla="*/ 0 w 314"/>
              <a:gd name="T17" fmla="*/ 148 h 305"/>
              <a:gd name="T18" fmla="*/ 108 w 314"/>
              <a:gd name="T19" fmla="*/ 0 h 305"/>
              <a:gd name="T20" fmla="*/ 314 w 314"/>
              <a:gd name="T21" fmla="*/ 63 h 305"/>
              <a:gd name="T22" fmla="*/ 314 w 314"/>
              <a:gd name="T23" fmla="*/ 2 h 305"/>
              <a:gd name="T24" fmla="*/ 284 w 314"/>
              <a:gd name="T25" fmla="*/ 0 h 305"/>
              <a:gd name="T26" fmla="*/ 176 w 314"/>
              <a:gd name="T27" fmla="*/ 148 h 305"/>
              <a:gd name="T28" fmla="*/ 176 w 314"/>
              <a:gd name="T29" fmla="*/ 305 h 305"/>
              <a:gd name="T30" fmla="*/ 298 w 314"/>
              <a:gd name="T31" fmla="*/ 305 h 305"/>
              <a:gd name="T32" fmla="*/ 298 w 314"/>
              <a:gd name="T33" fmla="*/ 160 h 305"/>
              <a:gd name="T34" fmla="*/ 246 w 314"/>
              <a:gd name="T35" fmla="*/ 160 h 305"/>
              <a:gd name="T36" fmla="*/ 246 w 314"/>
              <a:gd name="T37" fmla="*/ 132 h 305"/>
              <a:gd name="T38" fmla="*/ 314 w 314"/>
              <a:gd name="T39" fmla="*/ 63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14" h="305">
                <a:moveTo>
                  <a:pt x="108" y="0"/>
                </a:moveTo>
                <a:cubicBezTo>
                  <a:pt x="116" y="0"/>
                  <a:pt x="128" y="1"/>
                  <a:pt x="144" y="2"/>
                </a:cubicBezTo>
                <a:lnTo>
                  <a:pt x="144" y="63"/>
                </a:lnTo>
                <a:cubicBezTo>
                  <a:pt x="94" y="63"/>
                  <a:pt x="70" y="86"/>
                  <a:pt x="70" y="132"/>
                </a:cubicBezTo>
                <a:lnTo>
                  <a:pt x="70" y="159"/>
                </a:lnTo>
                <a:lnTo>
                  <a:pt x="122" y="159"/>
                </a:lnTo>
                <a:lnTo>
                  <a:pt x="122" y="305"/>
                </a:lnTo>
                <a:lnTo>
                  <a:pt x="0" y="305"/>
                </a:lnTo>
                <a:lnTo>
                  <a:pt x="0" y="148"/>
                </a:lnTo>
                <a:cubicBezTo>
                  <a:pt x="0" y="49"/>
                  <a:pt x="36" y="0"/>
                  <a:pt x="108" y="0"/>
                </a:cubicBezTo>
                <a:close/>
                <a:moveTo>
                  <a:pt x="314" y="63"/>
                </a:moveTo>
                <a:lnTo>
                  <a:pt x="314" y="2"/>
                </a:lnTo>
                <a:cubicBezTo>
                  <a:pt x="299" y="1"/>
                  <a:pt x="289" y="0"/>
                  <a:pt x="284" y="0"/>
                </a:cubicBezTo>
                <a:cubicBezTo>
                  <a:pt x="212" y="0"/>
                  <a:pt x="176" y="50"/>
                  <a:pt x="176" y="148"/>
                </a:cubicBezTo>
                <a:lnTo>
                  <a:pt x="176" y="305"/>
                </a:lnTo>
                <a:lnTo>
                  <a:pt x="298" y="305"/>
                </a:lnTo>
                <a:lnTo>
                  <a:pt x="298" y="160"/>
                </a:lnTo>
                <a:lnTo>
                  <a:pt x="246" y="160"/>
                </a:lnTo>
                <a:lnTo>
                  <a:pt x="246" y="132"/>
                </a:lnTo>
                <a:cubicBezTo>
                  <a:pt x="245" y="89"/>
                  <a:pt x="268" y="66"/>
                  <a:pt x="314" y="63"/>
                </a:cubicBezTo>
                <a:close/>
              </a:path>
            </a:pathLst>
          </a:custGeom>
          <a:solidFill>
            <a:schemeClr val="dk2">
              <a:lumMod val="100000"/>
              <a:alpha val="50000"/>
            </a:scheme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99356" y="260648"/>
            <a:ext cx="7671088" cy="682262"/>
            <a:chOff x="299356" y="260648"/>
            <a:chExt cx="7671088" cy="682262"/>
          </a:xfrm>
        </p:grpSpPr>
        <p:grpSp>
          <p:nvGrpSpPr>
            <p:cNvPr id="3" name="组合 2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dk2">
                  <a:lumMod val="60000"/>
                  <a:lumOff val="40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dk2">
                  <a:lumMod val="75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03358E"/>
                  </a:gs>
                  <a:gs pos="100000">
                    <a:srgbClr val="03358E">
                      <a:lumMod val="40000"/>
                      <a:lumOff val="6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36"/>
            <p:cNvSpPr txBox="1"/>
            <p:nvPr/>
          </p:nvSpPr>
          <p:spPr>
            <a:xfrm>
              <a:off x="1163452" y="404793"/>
              <a:ext cx="6806992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 algn="l"/>
              <a:r>
                <a:rPr lang="zh-CN" altLang="en-US" sz="2800" b="1" dirty="0">
                  <a:solidFill>
                    <a:schemeClr val="dk2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	社会资本理论：关系网络与数字赋能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415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内容占位符 2"/>
          <p:cNvSpPr txBox="1"/>
          <p:nvPr/>
        </p:nvSpPr>
        <p:spPr>
          <a:xfrm>
            <a:off x="184386" y="1603950"/>
            <a:ext cx="11057232" cy="5254049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1200"/>
              </a:spcBef>
              <a:buFontTx/>
              <a:buNone/>
              <a:defRPr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457200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数字不平等是一个多层次、连续累积的复杂过程，在物质接入鸿沟、技能与使用鸿沟以及收益与结果鸿沟上均可能累积数字劣势。</a:t>
            </a:r>
            <a:endParaRPr lang="en-US" altLang="zh-CN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lvl="0" fontAlgn="auto">
              <a:lnSpc>
                <a:spcPct val="150000"/>
              </a:lnSpc>
              <a:spcBef>
                <a:spcPts val="0"/>
              </a:spcBef>
            </a:pPr>
            <a:endParaRPr lang="zh-CN" altLang="en-US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b="1" dirty="0">
                <a:solidFill>
                  <a:srgbClr val="0C0C0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中国青少年在互联网使用中存在两道数字鸿沟：</a:t>
            </a:r>
            <a:endParaRPr lang="en-US" altLang="zh-CN" sz="1600" b="1" dirty="0">
              <a:solidFill>
                <a:srgbClr val="0C0C0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457200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一是“接入沟”</a:t>
            </a:r>
            <a:r>
              <a:rPr lang="en-US" altLang="zh-CN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,</a:t>
            </a: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即家庭背景较好的青少年使用互联网的可能性较大；二是“使用沟”</a:t>
            </a:r>
            <a:r>
              <a:rPr lang="en-US" altLang="zh-CN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,</a:t>
            </a: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即家庭背景较好的青少年拥有更加健康和高效的互联网使用习惯。两道数字鸿沟均对教育不平等产生重要影响。</a:t>
            </a:r>
            <a:endParaRPr lang="en-US" altLang="zh-CN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b="1" dirty="0">
                <a:solidFill>
                  <a:srgbClr val="0C0C0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数字鸿沟和消费不平等之间存在显著因果关联：</a:t>
            </a:r>
            <a:endParaRPr lang="en-US" altLang="zh-CN" sz="1600" b="1" dirty="0">
              <a:solidFill>
                <a:srgbClr val="0C0C0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457200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数字鸿沟通过加剧收入不平等、削弱信贷可得性及社会资本等消费平滑渠道，显著扩大了个体消费不平等。这一效应在欠发达地区和数字弱势群体中尤为突出，且主要加剧了发展型与享受型等高层次消费的不平等。数字鸿沟与收入不平等通过数字素养这一媒介紧密关联。数字鸿沟会转化为收入不平等，因为数字素养的提升虽能促进农户增收，但其效应不具有包容性：高收入、高人力资本、年轻及男性户主等优势群体获益显著，而低收入、低人力资本、年长及女性户主等弱势群体获益有限，从而加剧了农户内部的收入差距。也有学者指出，随着算法深度融入日常生活，用户将平台使用转化为实际收益的表现差异也即“第三道数字鸿沟”问题日益凸显</a:t>
            </a:r>
            <a:endParaRPr lang="en-US" altLang="zh-CN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lvl="0" fontAlgn="auto">
              <a:lnSpc>
                <a:spcPct val="150000"/>
              </a:lnSpc>
              <a:spcBef>
                <a:spcPts val="0"/>
              </a:spcBef>
            </a:pPr>
            <a:endParaRPr lang="zh-CN" altLang="en-US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lvl="0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b="1" dirty="0">
              <a:solidFill>
                <a:srgbClr val="0C0C0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中宋" panose="02010600040101010101" charset="-122"/>
            </a:endParaRPr>
          </a:p>
        </p:txBody>
      </p:sp>
      <p:sp>
        <p:nvSpPr>
          <p:cNvPr id="55" name="内容占位符 1"/>
          <p:cNvSpPr txBox="1"/>
          <p:nvPr/>
        </p:nvSpPr>
        <p:spPr>
          <a:xfrm>
            <a:off x="439368" y="1125494"/>
            <a:ext cx="11057232" cy="4784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数字不平等理论为理解数字鸿沟提供了核心分析框架</a:t>
            </a:r>
          </a:p>
        </p:txBody>
      </p:sp>
      <p:sp>
        <p:nvSpPr>
          <p:cNvPr id="56" name="left-quotes_39368"/>
          <p:cNvSpPr>
            <a:spLocks noChangeAspect="1"/>
          </p:cNvSpPr>
          <p:nvPr/>
        </p:nvSpPr>
        <p:spPr bwMode="auto">
          <a:xfrm flipH="1" flipV="1">
            <a:off x="10478997" y="5285220"/>
            <a:ext cx="894907" cy="867953"/>
          </a:xfrm>
          <a:custGeom>
            <a:avLst/>
            <a:gdLst>
              <a:gd name="T0" fmla="*/ 108 w 314"/>
              <a:gd name="T1" fmla="*/ 0 h 305"/>
              <a:gd name="T2" fmla="*/ 144 w 314"/>
              <a:gd name="T3" fmla="*/ 2 h 305"/>
              <a:gd name="T4" fmla="*/ 144 w 314"/>
              <a:gd name="T5" fmla="*/ 63 h 305"/>
              <a:gd name="T6" fmla="*/ 70 w 314"/>
              <a:gd name="T7" fmla="*/ 132 h 305"/>
              <a:gd name="T8" fmla="*/ 70 w 314"/>
              <a:gd name="T9" fmla="*/ 159 h 305"/>
              <a:gd name="T10" fmla="*/ 122 w 314"/>
              <a:gd name="T11" fmla="*/ 159 h 305"/>
              <a:gd name="T12" fmla="*/ 122 w 314"/>
              <a:gd name="T13" fmla="*/ 305 h 305"/>
              <a:gd name="T14" fmla="*/ 0 w 314"/>
              <a:gd name="T15" fmla="*/ 305 h 305"/>
              <a:gd name="T16" fmla="*/ 0 w 314"/>
              <a:gd name="T17" fmla="*/ 148 h 305"/>
              <a:gd name="T18" fmla="*/ 108 w 314"/>
              <a:gd name="T19" fmla="*/ 0 h 305"/>
              <a:gd name="T20" fmla="*/ 314 w 314"/>
              <a:gd name="T21" fmla="*/ 63 h 305"/>
              <a:gd name="T22" fmla="*/ 314 w 314"/>
              <a:gd name="T23" fmla="*/ 2 h 305"/>
              <a:gd name="T24" fmla="*/ 284 w 314"/>
              <a:gd name="T25" fmla="*/ 0 h 305"/>
              <a:gd name="T26" fmla="*/ 176 w 314"/>
              <a:gd name="T27" fmla="*/ 148 h 305"/>
              <a:gd name="T28" fmla="*/ 176 w 314"/>
              <a:gd name="T29" fmla="*/ 305 h 305"/>
              <a:gd name="T30" fmla="*/ 298 w 314"/>
              <a:gd name="T31" fmla="*/ 305 h 305"/>
              <a:gd name="T32" fmla="*/ 298 w 314"/>
              <a:gd name="T33" fmla="*/ 160 h 305"/>
              <a:gd name="T34" fmla="*/ 246 w 314"/>
              <a:gd name="T35" fmla="*/ 160 h 305"/>
              <a:gd name="T36" fmla="*/ 246 w 314"/>
              <a:gd name="T37" fmla="*/ 132 h 305"/>
              <a:gd name="T38" fmla="*/ 314 w 314"/>
              <a:gd name="T39" fmla="*/ 63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14" h="305">
                <a:moveTo>
                  <a:pt x="108" y="0"/>
                </a:moveTo>
                <a:cubicBezTo>
                  <a:pt x="116" y="0"/>
                  <a:pt x="128" y="1"/>
                  <a:pt x="144" y="2"/>
                </a:cubicBezTo>
                <a:lnTo>
                  <a:pt x="144" y="63"/>
                </a:lnTo>
                <a:cubicBezTo>
                  <a:pt x="94" y="63"/>
                  <a:pt x="70" y="86"/>
                  <a:pt x="70" y="132"/>
                </a:cubicBezTo>
                <a:lnTo>
                  <a:pt x="70" y="159"/>
                </a:lnTo>
                <a:lnTo>
                  <a:pt x="122" y="159"/>
                </a:lnTo>
                <a:lnTo>
                  <a:pt x="122" y="305"/>
                </a:lnTo>
                <a:lnTo>
                  <a:pt x="0" y="305"/>
                </a:lnTo>
                <a:lnTo>
                  <a:pt x="0" y="148"/>
                </a:lnTo>
                <a:cubicBezTo>
                  <a:pt x="0" y="49"/>
                  <a:pt x="36" y="0"/>
                  <a:pt x="108" y="0"/>
                </a:cubicBezTo>
                <a:close/>
                <a:moveTo>
                  <a:pt x="314" y="63"/>
                </a:moveTo>
                <a:lnTo>
                  <a:pt x="314" y="2"/>
                </a:lnTo>
                <a:cubicBezTo>
                  <a:pt x="299" y="1"/>
                  <a:pt x="289" y="0"/>
                  <a:pt x="284" y="0"/>
                </a:cubicBezTo>
                <a:cubicBezTo>
                  <a:pt x="212" y="0"/>
                  <a:pt x="176" y="50"/>
                  <a:pt x="176" y="148"/>
                </a:cubicBezTo>
                <a:lnTo>
                  <a:pt x="176" y="305"/>
                </a:lnTo>
                <a:lnTo>
                  <a:pt x="298" y="305"/>
                </a:lnTo>
                <a:lnTo>
                  <a:pt x="298" y="160"/>
                </a:lnTo>
                <a:lnTo>
                  <a:pt x="246" y="160"/>
                </a:lnTo>
                <a:lnTo>
                  <a:pt x="246" y="132"/>
                </a:lnTo>
                <a:cubicBezTo>
                  <a:pt x="245" y="89"/>
                  <a:pt x="268" y="66"/>
                  <a:pt x="314" y="63"/>
                </a:cubicBezTo>
                <a:close/>
              </a:path>
            </a:pathLst>
          </a:custGeom>
          <a:solidFill>
            <a:schemeClr val="dk2">
              <a:lumMod val="100000"/>
              <a:alpha val="50000"/>
            </a:scheme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99356" y="260648"/>
            <a:ext cx="7824976" cy="682262"/>
            <a:chOff x="299356" y="260648"/>
            <a:chExt cx="7824976" cy="682262"/>
          </a:xfrm>
        </p:grpSpPr>
        <p:grpSp>
          <p:nvGrpSpPr>
            <p:cNvPr id="3" name="组合 2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dk2">
                  <a:lumMod val="60000"/>
                  <a:lumOff val="40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dk2">
                  <a:lumMod val="75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03358E"/>
                  </a:gs>
                  <a:gs pos="100000">
                    <a:srgbClr val="03358E">
                      <a:lumMod val="40000"/>
                      <a:lumOff val="6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36"/>
            <p:cNvSpPr txBox="1"/>
            <p:nvPr/>
          </p:nvSpPr>
          <p:spPr>
            <a:xfrm>
              <a:off x="1163452" y="404793"/>
              <a:ext cx="6960880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 algn="l"/>
              <a:r>
                <a:rPr lang="zh-CN" altLang="en-US" sz="2800" b="1" dirty="0">
                  <a:solidFill>
                    <a:schemeClr val="dk2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三、数字不平等理论：多维动态与累积劣势</a:t>
              </a:r>
            </a:p>
          </p:txBody>
        </p:sp>
      </p:grpSp>
      <p:sp>
        <p:nvSpPr>
          <p:cNvPr id="13" name="Text 6">
            <a:extLst>
              <a:ext uri="{FF2B5EF4-FFF2-40B4-BE49-F238E27FC236}">
                <a16:creationId xmlns:a16="http://schemas.microsoft.com/office/drawing/2014/main" id="{78A5BB59-CF75-4BA2-89EC-66A64AE12F41}"/>
              </a:ext>
            </a:extLst>
          </p:cNvPr>
          <p:cNvSpPr/>
          <p:nvPr/>
        </p:nvSpPr>
        <p:spPr>
          <a:xfrm>
            <a:off x="871373" y="2407267"/>
            <a:ext cx="1507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457200" algn="just">
              <a:lnSpc>
                <a:spcPct val="150000"/>
              </a:lnSpc>
            </a:pPr>
            <a:r>
              <a:rPr lang="en-US" sz="1600" dirty="0" err="1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接入鸿沟</a:t>
            </a:r>
            <a:endParaRPr lang="en-US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DFCDBEF9-99FF-4EF9-8B31-9A3E482757AB}"/>
              </a:ext>
            </a:extLst>
          </p:cNvPr>
          <p:cNvSpPr/>
          <p:nvPr/>
        </p:nvSpPr>
        <p:spPr>
          <a:xfrm>
            <a:off x="2258190" y="2427843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185202" y="138946"/>
                </a:moveTo>
                <a:cubicBezTo>
                  <a:pt x="192643" y="146387"/>
                  <a:pt x="192643" y="158472"/>
                  <a:pt x="185202" y="165914"/>
                </a:cubicBezTo>
                <a:lnTo>
                  <a:pt x="70902" y="280214"/>
                </a:lnTo>
                <a:cubicBezTo>
                  <a:pt x="63460" y="287655"/>
                  <a:pt x="51375" y="287655"/>
                  <a:pt x="43934" y="280214"/>
                </a:cubicBezTo>
                <a:cubicBezTo>
                  <a:pt x="36493" y="272772"/>
                  <a:pt x="36493" y="260687"/>
                  <a:pt x="43934" y="253246"/>
                </a:cubicBezTo>
                <a:lnTo>
                  <a:pt x="144780" y="152400"/>
                </a:lnTo>
                <a:lnTo>
                  <a:pt x="43994" y="51554"/>
                </a:lnTo>
                <a:cubicBezTo>
                  <a:pt x="36552" y="44113"/>
                  <a:pt x="36552" y="32028"/>
                  <a:pt x="43994" y="24586"/>
                </a:cubicBezTo>
                <a:cubicBezTo>
                  <a:pt x="51435" y="17145"/>
                  <a:pt x="63520" y="17145"/>
                  <a:pt x="70961" y="24586"/>
                </a:cubicBezTo>
                <a:lnTo>
                  <a:pt x="185261" y="138886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6EBF4CE4-01ED-46CE-9FC0-A769E0A66A08}"/>
              </a:ext>
            </a:extLst>
          </p:cNvPr>
          <p:cNvSpPr/>
          <p:nvPr/>
        </p:nvSpPr>
        <p:spPr>
          <a:xfrm>
            <a:off x="2164043" y="2418816"/>
            <a:ext cx="133629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457200" algn="just">
              <a:lnSpc>
                <a:spcPct val="150000"/>
              </a:lnSpc>
            </a:pPr>
            <a:r>
              <a:rPr lang="en-US" sz="1600" dirty="0" err="1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技能鸿沟</a:t>
            </a:r>
            <a:endParaRPr lang="en-US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B661B008-226D-440E-89C9-C59934D590CB}"/>
              </a:ext>
            </a:extLst>
          </p:cNvPr>
          <p:cNvSpPr/>
          <p:nvPr/>
        </p:nvSpPr>
        <p:spPr>
          <a:xfrm>
            <a:off x="3566243" y="241604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185202" y="138946"/>
                </a:moveTo>
                <a:cubicBezTo>
                  <a:pt x="192643" y="146387"/>
                  <a:pt x="192643" y="158472"/>
                  <a:pt x="185202" y="165914"/>
                </a:cubicBezTo>
                <a:lnTo>
                  <a:pt x="70902" y="280214"/>
                </a:lnTo>
                <a:cubicBezTo>
                  <a:pt x="63460" y="287655"/>
                  <a:pt x="51375" y="287655"/>
                  <a:pt x="43934" y="280214"/>
                </a:cubicBezTo>
                <a:cubicBezTo>
                  <a:pt x="36493" y="272772"/>
                  <a:pt x="36493" y="260687"/>
                  <a:pt x="43934" y="253246"/>
                </a:cubicBezTo>
                <a:lnTo>
                  <a:pt x="144780" y="152400"/>
                </a:lnTo>
                <a:lnTo>
                  <a:pt x="43994" y="51554"/>
                </a:lnTo>
                <a:cubicBezTo>
                  <a:pt x="36552" y="44113"/>
                  <a:pt x="36552" y="32028"/>
                  <a:pt x="43994" y="24586"/>
                </a:cubicBezTo>
                <a:cubicBezTo>
                  <a:pt x="51435" y="17145"/>
                  <a:pt x="63520" y="17145"/>
                  <a:pt x="70961" y="24586"/>
                </a:cubicBezTo>
                <a:lnTo>
                  <a:pt x="185261" y="138886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296EE12F-3EF9-4294-A927-D118D5F41417}"/>
              </a:ext>
            </a:extLst>
          </p:cNvPr>
          <p:cNvSpPr/>
          <p:nvPr/>
        </p:nvSpPr>
        <p:spPr>
          <a:xfrm>
            <a:off x="3448366" y="2340038"/>
            <a:ext cx="1332054" cy="388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457200" algn="just">
              <a:lnSpc>
                <a:spcPct val="150000"/>
              </a:lnSpc>
            </a:pPr>
            <a:r>
              <a:rPr lang="en-US" sz="1600" dirty="0" err="1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使用鸿沟</a:t>
            </a:r>
            <a:endParaRPr lang="en-US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BA375F4A-1D58-4DA7-8B73-01628C5AD83F}"/>
              </a:ext>
            </a:extLst>
          </p:cNvPr>
          <p:cNvSpPr/>
          <p:nvPr/>
        </p:nvSpPr>
        <p:spPr>
          <a:xfrm>
            <a:off x="4780475" y="2402524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185202" y="138946"/>
                </a:moveTo>
                <a:cubicBezTo>
                  <a:pt x="192643" y="146387"/>
                  <a:pt x="192643" y="158472"/>
                  <a:pt x="185202" y="165914"/>
                </a:cubicBezTo>
                <a:lnTo>
                  <a:pt x="70902" y="280214"/>
                </a:lnTo>
                <a:cubicBezTo>
                  <a:pt x="63460" y="287655"/>
                  <a:pt x="51375" y="287655"/>
                  <a:pt x="43934" y="280214"/>
                </a:cubicBezTo>
                <a:cubicBezTo>
                  <a:pt x="36493" y="272772"/>
                  <a:pt x="36493" y="260687"/>
                  <a:pt x="43934" y="253246"/>
                </a:cubicBezTo>
                <a:lnTo>
                  <a:pt x="144780" y="152400"/>
                </a:lnTo>
                <a:lnTo>
                  <a:pt x="43994" y="51554"/>
                </a:lnTo>
                <a:cubicBezTo>
                  <a:pt x="36552" y="44113"/>
                  <a:pt x="36552" y="32028"/>
                  <a:pt x="43994" y="24586"/>
                </a:cubicBezTo>
                <a:cubicBezTo>
                  <a:pt x="51435" y="17145"/>
                  <a:pt x="63520" y="17145"/>
                  <a:pt x="70961" y="24586"/>
                </a:cubicBezTo>
                <a:lnTo>
                  <a:pt x="185261" y="138886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3E14A250-D47C-4627-A6F9-B1E8C356FDB2}"/>
              </a:ext>
            </a:extLst>
          </p:cNvPr>
          <p:cNvSpPr/>
          <p:nvPr/>
        </p:nvSpPr>
        <p:spPr>
          <a:xfrm>
            <a:off x="4626232" y="2348214"/>
            <a:ext cx="1332054" cy="360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457200" algn="just">
              <a:lnSpc>
                <a:spcPct val="150000"/>
              </a:lnSpc>
            </a:pPr>
            <a:r>
              <a:rPr lang="en-US" sz="1600" dirty="0" err="1">
                <a:solidFill>
                  <a:srgbClr val="0C0C0C"/>
                </a:solidFill>
                <a:latin typeface="华文中宋" panose="02010600040101010101" charset="-122"/>
                <a:ea typeface="华文中宋" panose="02010600040101010101" charset="-122"/>
              </a:rPr>
              <a:t>收益鸿沟</a:t>
            </a:r>
            <a:endParaRPr lang="en-US" sz="1600" dirty="0">
              <a:solidFill>
                <a:srgbClr val="0C0C0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875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0056" y="2060848"/>
            <a:ext cx="5097441" cy="507245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6042" y="22393"/>
            <a:ext cx="5097441" cy="5072454"/>
          </a:xfrm>
          <a:prstGeom prst="rect">
            <a:avLst/>
          </a:prstGeom>
        </p:spPr>
      </p:pic>
      <p:sp>
        <p:nvSpPr>
          <p:cNvPr id="2" name="任意多边形: 形状 1"/>
          <p:cNvSpPr/>
          <p:nvPr/>
        </p:nvSpPr>
        <p:spPr>
          <a:xfrm>
            <a:off x="0" y="1917472"/>
            <a:ext cx="10647949" cy="2952329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gradFill flip="none" rotWithShape="1">
            <a:gsLst>
              <a:gs pos="0">
                <a:schemeClr val="dk2">
                  <a:lumMod val="100000"/>
                </a:schemeClr>
              </a:gs>
              <a:gs pos="42000">
                <a:schemeClr val="dk2">
                  <a:lumMod val="100000"/>
                </a:schemeClr>
              </a:gs>
              <a:gs pos="74000">
                <a:schemeClr val="dk2">
                  <a:lumMod val="100000"/>
                </a:schemeClr>
              </a:gs>
              <a:gs pos="100000">
                <a:schemeClr val="dk2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7824190" y="2100860"/>
            <a:ext cx="3282569" cy="2664296"/>
            <a:chOff x="6103143" y="2244876"/>
            <a:chExt cx="2927697" cy="2376264"/>
          </a:xfrm>
        </p:grpSpPr>
        <p:sp>
          <p:nvSpPr>
            <p:cNvPr id="8" name="椭圆 7"/>
            <p:cNvSpPr/>
            <p:nvPr/>
          </p:nvSpPr>
          <p:spPr>
            <a:xfrm>
              <a:off x="6103143" y="2244876"/>
              <a:ext cx="2376264" cy="2376264"/>
            </a:xfrm>
            <a:prstGeom prst="ellipse">
              <a:avLst/>
            </a:prstGeom>
            <a:solidFill>
              <a:schemeClr val="lt1">
                <a:lumMod val="100000"/>
              </a:schemeClr>
            </a:solidFill>
            <a:ln>
              <a:solidFill>
                <a:schemeClr val="dk2">
                  <a:lumMod val="10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TextBox 21"/>
            <p:cNvSpPr txBox="1"/>
            <p:nvPr/>
          </p:nvSpPr>
          <p:spPr>
            <a:xfrm>
              <a:off x="6204439" y="2990371"/>
              <a:ext cx="2826401" cy="885273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>
                      <a:lumMod val="100000"/>
                    </a:schemeClr>
                  </a:solidFill>
                  <a:effectLst/>
                  <a:uLnTx/>
                  <a:uFillTx/>
                  <a:latin typeface="AvantGarde Md BT" pitchFamily="34" charset="0"/>
                  <a:ea typeface="微软雅黑" panose="020B0503020204020204" pitchFamily="34" charset="-122"/>
                  <a:cs typeface="+mn-cs"/>
                </a:rPr>
                <a:t>第三章</a:t>
              </a:r>
              <a:endPara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vantGarde Md BT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TextBox 4"/>
          <p:cNvSpPr txBox="1"/>
          <p:nvPr/>
        </p:nvSpPr>
        <p:spPr>
          <a:xfrm>
            <a:off x="1117919" y="2982885"/>
            <a:ext cx="6370975" cy="900246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lvl="0">
              <a:defRPr/>
            </a:pPr>
            <a:r>
              <a:rPr lang="zh-CN" altLang="en-US" sz="5400" b="1" dirty="0">
                <a:solidFill>
                  <a:srgbClr val="FFFFFF"/>
                </a:solidFill>
                <a:latin typeface="AvantGarde Md BT" pitchFamily="34" charset="0"/>
                <a:ea typeface="微软雅黑" panose="020B0503020204020204" pitchFamily="34" charset="-122"/>
              </a:rPr>
              <a:t>主要研究问题与视角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3" name="组合 2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dk2">
                  <a:lumMod val="60000"/>
                  <a:lumOff val="40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dk2">
                  <a:lumMod val="75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03358E"/>
                  </a:gs>
                  <a:gs pos="100000">
                    <a:srgbClr val="03358E">
                      <a:lumMod val="40000"/>
                      <a:lumOff val="6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36"/>
            <p:cNvSpPr txBox="1"/>
            <p:nvPr/>
          </p:nvSpPr>
          <p:spPr>
            <a:xfrm>
              <a:off x="1163452" y="333038"/>
              <a:ext cx="3011081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 algn="l"/>
              <a:r>
                <a:rPr lang="zh-CN" altLang="en-US" sz="2800" b="1" dirty="0">
                  <a:solidFill>
                    <a:schemeClr val="dk2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数字鸿沟三层演进</a:t>
              </a: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79376" y="1172425"/>
            <a:ext cx="10751820" cy="45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 err="1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Hargittai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提出强调使用条件、技能、社会资源等结构性不平等，这正是“数字不平等”理论的核心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7EFB60-85FD-38C5-E588-2566CDAD3279}"/>
              </a:ext>
            </a:extLst>
          </p:cNvPr>
          <p:cNvSpPr txBox="1"/>
          <p:nvPr/>
        </p:nvSpPr>
        <p:spPr>
          <a:xfrm>
            <a:off x="479628" y="4077072"/>
            <a:ext cx="10751820" cy="1289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数字鸿沟的本质是“数字不平等”，它是一个由技术、社会结构与个体能力共同塑造的多维系统性问题，必须在公共管理的“治理”与“公共价值”双重框架下进行审视，才能真正理解其对社会公平与国家治理能力的深刻挑战。（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Hargittai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2002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）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264D92F-6845-D759-184E-D2E2ED7BD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04" y="1895370"/>
            <a:ext cx="9907275" cy="1917537"/>
          </a:xfrm>
          <a:prstGeom prst="rect">
            <a:avLst/>
          </a:prstGeom>
          <a:ln w="28575">
            <a:solidFill>
              <a:srgbClr val="00B0F0"/>
            </a:solidFill>
            <a:prstDash val="lgDashDot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1AE81-1CB7-8F85-E98B-9FFC9FE22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D20418F-2704-D7E7-FD7D-DF88FC5EAD71}"/>
              </a:ext>
            </a:extLst>
          </p:cNvPr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E9EA0B8C-94AD-075E-7ED7-45A9C06ABB30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84FBC3E-9BFE-3245-E0E0-B46CDCBA5B74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dk2">
                  <a:lumMod val="60000"/>
                  <a:lumOff val="40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A04125F0-0201-AAC3-9951-5D7B469BFDA2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dk2">
                  <a:lumMod val="75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A71B4486-6CD4-3812-D0C6-FA9600668A4E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03358E"/>
                  </a:gs>
                  <a:gs pos="100000">
                    <a:srgbClr val="03358E">
                      <a:lumMod val="40000"/>
                      <a:lumOff val="6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36">
              <a:extLst>
                <a:ext uri="{FF2B5EF4-FFF2-40B4-BE49-F238E27FC236}">
                  <a16:creationId xmlns:a16="http://schemas.microsoft.com/office/drawing/2014/main" id="{6CE89A3E-0D6C-DD33-9094-FBF49021380F}"/>
                </a:ext>
              </a:extLst>
            </p:cNvPr>
            <p:cNvSpPr txBox="1"/>
            <p:nvPr/>
          </p:nvSpPr>
          <p:spPr>
            <a:xfrm>
              <a:off x="1163452" y="333038"/>
              <a:ext cx="2292935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 algn="l"/>
              <a:r>
                <a:rPr lang="zh-CN" altLang="en-US" sz="2800" b="1" dirty="0">
                  <a:solidFill>
                    <a:schemeClr val="dk2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老年群体困境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D9C1D2F7-A633-FC94-1853-42CEF1934F31}"/>
              </a:ext>
            </a:extLst>
          </p:cNvPr>
          <p:cNvSpPr txBox="1"/>
          <p:nvPr/>
        </p:nvSpPr>
        <p:spPr>
          <a:xfrm>
            <a:off x="479376" y="1172425"/>
            <a:ext cx="10751820" cy="1705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早期研究将数字鸿沟简化为“是否接入”的二元问题，忽视了其复杂性和阶段性，导致近年来研究深化至“结果鸿沟”与“权利鸿沟”，关注福祉分配不均与公民权利受损。以老年群体为例，数字鸿沟表现为“单向接收”、“参与受阻”、“网络诈骗”等，这些正是“结果鸿沟”与“权利鸿沟”的具体体现。（谢永飞，刘轶锋，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2024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29A2DB2-2DE5-E671-1119-AF3C71052A94}"/>
              </a:ext>
            </a:extLst>
          </p:cNvPr>
          <p:cNvSpPr txBox="1"/>
          <p:nvPr/>
        </p:nvSpPr>
        <p:spPr>
          <a:xfrm>
            <a:off x="623392" y="2996952"/>
            <a:ext cx="3381672" cy="2951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因此数字鸿沟的本质是“数字不平等”，其核心在于数字技术应用对弱势群体造成的“结果剥夺”与“权利侵害”，这要求公共管理必须从“技术效率”转向“社会公平”，实现真正的包容性治理。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EE95B9F-F80C-9923-52BD-17CC71B5C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912" y="2910921"/>
            <a:ext cx="5472608" cy="1157667"/>
          </a:xfrm>
          <a:prstGeom prst="rect">
            <a:avLst/>
          </a:prstGeom>
          <a:ln w="28575">
            <a:solidFill>
              <a:srgbClr val="00B0F0"/>
            </a:solidFill>
            <a:prstDash val="lgDashDot"/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12DEBB0-B8CA-1E3D-A998-943279587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912" y="4480929"/>
            <a:ext cx="5472608" cy="1509138"/>
          </a:xfrm>
          <a:prstGeom prst="rect">
            <a:avLst/>
          </a:prstGeom>
          <a:ln w="28575">
            <a:solidFill>
              <a:srgbClr val="00B0F0"/>
            </a:solidFill>
            <a:prstDash val="lgDashDot"/>
          </a:ln>
        </p:spPr>
      </p:pic>
    </p:spTree>
    <p:extLst>
      <p:ext uri="{BB962C8B-B14F-4D97-AF65-F5344CB8AC3E}">
        <p14:creationId xmlns:p14="http://schemas.microsoft.com/office/powerpoint/2010/main" val="1169934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7DCA0-5E44-C4E8-B475-59ECB9A33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FF9A7B0-5DE9-DC12-892C-EC10B92939F7}"/>
              </a:ext>
            </a:extLst>
          </p:cNvPr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1E4C334-EF88-0F89-9D33-202C115F9A31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3AEF06C-9128-DE93-DF7A-C7E9F70E953E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dk2">
                  <a:lumMod val="60000"/>
                  <a:lumOff val="40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63C41FC-8408-E16A-4436-F739E5FB3075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dk2">
                  <a:lumMod val="75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6C2CFFB6-EB57-8D58-1A3B-8B2B960E2C72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03358E"/>
                  </a:gs>
                  <a:gs pos="100000">
                    <a:srgbClr val="03358E">
                      <a:lumMod val="40000"/>
                      <a:lumOff val="6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36">
              <a:extLst>
                <a:ext uri="{FF2B5EF4-FFF2-40B4-BE49-F238E27FC236}">
                  <a16:creationId xmlns:a16="http://schemas.microsoft.com/office/drawing/2014/main" id="{ADBBD3E3-32BA-62A7-709B-FBE5375CFE09}"/>
                </a:ext>
              </a:extLst>
            </p:cNvPr>
            <p:cNvSpPr txBox="1"/>
            <p:nvPr/>
          </p:nvSpPr>
          <p:spPr>
            <a:xfrm>
              <a:off x="1163452" y="333038"/>
              <a:ext cx="4088299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 algn="l"/>
              <a:r>
                <a:rPr lang="zh-CN" altLang="en-US" sz="2800" b="1" dirty="0">
                  <a:solidFill>
                    <a:schemeClr val="dk2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治理与公共价值双重框架</a:t>
              </a: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8D7DBB33-56C3-535C-7A39-890B8739B4C8}"/>
              </a:ext>
            </a:extLst>
          </p:cNvPr>
          <p:cNvSpPr txBox="1"/>
          <p:nvPr/>
        </p:nvSpPr>
        <p:spPr>
          <a:xfrm>
            <a:off x="623392" y="4988134"/>
            <a:ext cx="10751820" cy="874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数字鸿沟的本质是“治理”与“公共价值”的双重挑战，其解决之道在于利用数字技术赋能“跨界合作”，以实现“公平、参与、包容”的公共价值目标。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DBE83E-ADF5-579A-7F39-510668DB1817}"/>
              </a:ext>
            </a:extLst>
          </p:cNvPr>
          <p:cNvSpPr txBox="1"/>
          <p:nvPr/>
        </p:nvSpPr>
        <p:spPr>
          <a:xfrm>
            <a:off x="623392" y="1279430"/>
            <a:ext cx="10751820" cy="1705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数字鸿沟不是一个孤立的技术问题，而是一个涉及政府、市场、社会多方互动的“治理”问题。“三大部门跨界合作”、“公共机构需要和公众、企业、非营利组织合作”等内容，正是对“治理”概念的生动诠释。翁文主张：面对数字时代的治理挑战，单一政府无法应对，必须构建政府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–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市场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–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社会三方合作网络。（翁士洪，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2019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）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0170239-E43C-01C6-6857-BFCE5CAC3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91" y="3364806"/>
            <a:ext cx="10558424" cy="1060354"/>
          </a:xfrm>
          <a:prstGeom prst="rect">
            <a:avLst/>
          </a:prstGeom>
          <a:ln w="28575">
            <a:solidFill>
              <a:srgbClr val="00B0F0"/>
            </a:solidFill>
            <a:prstDash val="lgDashDot"/>
          </a:ln>
        </p:spPr>
      </p:pic>
    </p:spTree>
    <p:extLst>
      <p:ext uri="{BB962C8B-B14F-4D97-AF65-F5344CB8AC3E}">
        <p14:creationId xmlns:p14="http://schemas.microsoft.com/office/powerpoint/2010/main" val="1890897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99356" y="260648"/>
            <a:ext cx="7465903" cy="682262"/>
            <a:chOff x="299356" y="260648"/>
            <a:chExt cx="7465903" cy="682262"/>
          </a:xfrm>
        </p:grpSpPr>
        <p:grpSp>
          <p:nvGrpSpPr>
            <p:cNvPr id="3" name="组合 2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dk2">
                  <a:lumMod val="60000"/>
                  <a:lumOff val="40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dk2">
                  <a:lumMod val="75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03358E"/>
                  </a:gs>
                  <a:gs pos="100000">
                    <a:srgbClr val="03358E">
                      <a:lumMod val="40000"/>
                      <a:lumOff val="6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36"/>
            <p:cNvSpPr txBox="1"/>
            <p:nvPr/>
          </p:nvSpPr>
          <p:spPr>
            <a:xfrm>
              <a:off x="1163452" y="333038"/>
              <a:ext cx="6601807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 algn="l"/>
              <a:r>
                <a:rPr lang="zh-CN" altLang="en-US" sz="2800" b="1" dirty="0">
                  <a:solidFill>
                    <a:schemeClr val="dk2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需求与领导力驱动创新，效率与公平冲突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DCB4CDE1-5883-DF3B-FF0F-99D21EED7C07}"/>
              </a:ext>
            </a:extLst>
          </p:cNvPr>
          <p:cNvSpPr txBox="1"/>
          <p:nvPr/>
        </p:nvSpPr>
        <p:spPr>
          <a:xfrm>
            <a:off x="463433" y="1010090"/>
            <a:ext cx="10751820" cy="1705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政策制定者的年龄结构决定了政策的偏好。年轻政客更倾向于推动数字创新，因为他们自身更熟悉技术，且其选民（年轻人）更易接受数字服务。这必然导致政策设计偏向“数字原住民”，而忽视“数字移民”（如老年人），从而在组织内部埋下了“效率”与“公平”冲突的种子（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Hong S, Kim S H, Kwon M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2022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AF2F32C-251E-958A-A5AA-956801710991}"/>
              </a:ext>
            </a:extLst>
          </p:cNvPr>
          <p:cNvSpPr txBox="1"/>
          <p:nvPr/>
        </p:nvSpPr>
        <p:spPr>
          <a:xfrm>
            <a:off x="499270" y="5084394"/>
            <a:ext cx="10751820" cy="874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政府组织内部的数字化转型，其核心驱动力是“效率”和“政治激励”，而非“公平”和“包容性”。这种以效率为导向的变革，必然导致“效率”与“公平”的深层冲突，并最终损害数字弱势群体的利益。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145686D-0EF8-AD2A-59FA-08FF5BE1A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7488" y="2826126"/>
            <a:ext cx="8993477" cy="2040702"/>
          </a:xfrm>
          <a:prstGeom prst="rect">
            <a:avLst/>
          </a:prstGeom>
          <a:ln w="28575">
            <a:solidFill>
              <a:srgbClr val="00B0F0"/>
            </a:solidFill>
            <a:prstDash val="lgDashDot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0056" y="2060848"/>
            <a:ext cx="5097441" cy="507245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6042" y="22393"/>
            <a:ext cx="5097441" cy="5072454"/>
          </a:xfrm>
          <a:prstGeom prst="rect">
            <a:avLst/>
          </a:prstGeom>
        </p:spPr>
      </p:pic>
      <p:sp>
        <p:nvSpPr>
          <p:cNvPr id="2" name="任意多边形: 形状 1"/>
          <p:cNvSpPr/>
          <p:nvPr/>
        </p:nvSpPr>
        <p:spPr>
          <a:xfrm>
            <a:off x="0" y="1917472"/>
            <a:ext cx="10647949" cy="2952329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gradFill flip="none" rotWithShape="1">
            <a:gsLst>
              <a:gs pos="0">
                <a:schemeClr val="dk2">
                  <a:lumMod val="100000"/>
                </a:schemeClr>
              </a:gs>
              <a:gs pos="42000">
                <a:schemeClr val="dk2">
                  <a:lumMod val="100000"/>
                </a:schemeClr>
              </a:gs>
              <a:gs pos="74000">
                <a:schemeClr val="dk2">
                  <a:lumMod val="100000"/>
                </a:schemeClr>
              </a:gs>
              <a:gs pos="100000">
                <a:schemeClr val="dk2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7824190" y="2100860"/>
            <a:ext cx="3282569" cy="2664296"/>
            <a:chOff x="6103143" y="2244876"/>
            <a:chExt cx="2927697" cy="2376264"/>
          </a:xfrm>
        </p:grpSpPr>
        <p:sp>
          <p:nvSpPr>
            <p:cNvPr id="8" name="椭圆 7"/>
            <p:cNvSpPr/>
            <p:nvPr/>
          </p:nvSpPr>
          <p:spPr>
            <a:xfrm>
              <a:off x="6103143" y="2244876"/>
              <a:ext cx="2376264" cy="2376264"/>
            </a:xfrm>
            <a:prstGeom prst="ellipse">
              <a:avLst/>
            </a:prstGeom>
            <a:solidFill>
              <a:schemeClr val="lt1">
                <a:lumMod val="100000"/>
              </a:schemeClr>
            </a:solidFill>
            <a:ln>
              <a:solidFill>
                <a:schemeClr val="dk2">
                  <a:lumMod val="10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extBox 21"/>
            <p:cNvSpPr txBox="1"/>
            <p:nvPr/>
          </p:nvSpPr>
          <p:spPr>
            <a:xfrm>
              <a:off x="6204439" y="2990371"/>
              <a:ext cx="2826401" cy="88464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zh-CN" altLang="en-US" sz="6000" b="1" dirty="0">
                  <a:solidFill>
                    <a:schemeClr val="dk2">
                      <a:lumMod val="100000"/>
                    </a:schemeClr>
                  </a:solidFill>
                  <a:latin typeface="AvantGarde Md BT" pitchFamily="34" charset="0"/>
                  <a:ea typeface="微软雅黑" panose="020B0503020204020204" pitchFamily="34" charset="-122"/>
                </a:rPr>
                <a:t>第四章</a:t>
              </a:r>
              <a:endParaRPr lang="en-US" altLang="zh-CN" sz="6000" b="1" dirty="0">
                <a:solidFill>
                  <a:schemeClr val="dk2">
                    <a:lumMod val="100000"/>
                  </a:schemeClr>
                </a:solidFill>
                <a:latin typeface="AvantGarde Md BT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TextBox 4"/>
          <p:cNvSpPr txBox="1"/>
          <p:nvPr/>
        </p:nvSpPr>
        <p:spPr>
          <a:xfrm>
            <a:off x="359629" y="2892492"/>
            <a:ext cx="6888499" cy="173124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5400" b="1" dirty="0">
                <a:solidFill>
                  <a:schemeClr val="lt1">
                    <a:lumMod val="100000"/>
                  </a:schemeClr>
                </a:solidFill>
                <a:latin typeface="AvantGarde Md BT" pitchFamily="34" charset="0"/>
                <a:ea typeface="微软雅黑" panose="020B0503020204020204" pitchFamily="34" charset="-122"/>
              </a:rPr>
              <a:t>新时代下数字鸿沟研究的启示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3" name="组合 2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dk2">
                  <a:lumMod val="60000"/>
                  <a:lumOff val="40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dk2">
                  <a:lumMod val="75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03358E"/>
                  </a:gs>
                  <a:gs pos="100000">
                    <a:srgbClr val="03358E">
                      <a:lumMod val="40000"/>
                      <a:lumOff val="6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36"/>
            <p:cNvSpPr txBox="1"/>
            <p:nvPr/>
          </p:nvSpPr>
          <p:spPr>
            <a:xfrm>
              <a:off x="1163452" y="260648"/>
              <a:ext cx="4759960" cy="499110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zh-CN" altLang="en-US" sz="2800" b="1" dirty="0">
                  <a:solidFill>
                    <a:schemeClr val="dk2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论文框架：微、中、宏观理解</a:t>
              </a: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42AABDAA-4BBC-B585-52B4-A5210F506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357" y="2204864"/>
            <a:ext cx="12192000" cy="68089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FB4335C-9284-FE95-9423-76E048D7158B}"/>
              </a:ext>
            </a:extLst>
          </p:cNvPr>
          <p:cNvSpPr txBox="1"/>
          <p:nvPr/>
        </p:nvSpPr>
        <p:spPr>
          <a:xfrm>
            <a:off x="479376" y="1196752"/>
            <a:ext cx="10751820" cy="874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</a:rPr>
              <a:t>数字排斥的伤害在贫困与种族身份叠加的群体中最为深重，从而有力支撑了“多重身份交织导致复合型数字劣势”这一论点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0056" y="2060848"/>
            <a:ext cx="5097441" cy="507245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6042" y="22393"/>
            <a:ext cx="5097441" cy="5072454"/>
          </a:xfrm>
          <a:prstGeom prst="rect">
            <a:avLst/>
          </a:prstGeom>
        </p:spPr>
      </p:pic>
      <p:sp>
        <p:nvSpPr>
          <p:cNvPr id="2" name="任意多边形: 形状 1"/>
          <p:cNvSpPr/>
          <p:nvPr/>
        </p:nvSpPr>
        <p:spPr>
          <a:xfrm>
            <a:off x="0" y="1917472"/>
            <a:ext cx="10647949" cy="2952329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gradFill flip="none" rotWithShape="1">
            <a:gsLst>
              <a:gs pos="0">
                <a:schemeClr val="dk2">
                  <a:lumMod val="100000"/>
                </a:schemeClr>
              </a:gs>
              <a:gs pos="42000">
                <a:schemeClr val="dk2">
                  <a:lumMod val="100000"/>
                </a:schemeClr>
              </a:gs>
              <a:gs pos="74000">
                <a:schemeClr val="dk2">
                  <a:lumMod val="100000"/>
                </a:schemeClr>
              </a:gs>
              <a:gs pos="100000">
                <a:schemeClr val="dk2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7824190" y="2100860"/>
            <a:ext cx="3282569" cy="2664296"/>
            <a:chOff x="6103143" y="2244876"/>
            <a:chExt cx="2927697" cy="2376264"/>
          </a:xfrm>
        </p:grpSpPr>
        <p:sp>
          <p:nvSpPr>
            <p:cNvPr id="8" name="椭圆 7"/>
            <p:cNvSpPr/>
            <p:nvPr/>
          </p:nvSpPr>
          <p:spPr>
            <a:xfrm>
              <a:off x="6103143" y="2244876"/>
              <a:ext cx="2376264" cy="2376264"/>
            </a:xfrm>
            <a:prstGeom prst="ellipse">
              <a:avLst/>
            </a:prstGeom>
            <a:solidFill>
              <a:schemeClr val="lt1">
                <a:lumMod val="100000"/>
              </a:schemeClr>
            </a:solidFill>
            <a:ln>
              <a:solidFill>
                <a:schemeClr val="dk2">
                  <a:lumMod val="10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TextBox 21"/>
            <p:cNvSpPr txBox="1"/>
            <p:nvPr/>
          </p:nvSpPr>
          <p:spPr>
            <a:xfrm>
              <a:off x="6204439" y="2990371"/>
              <a:ext cx="2826401" cy="88464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>
                      <a:lumMod val="100000"/>
                    </a:schemeClr>
                  </a:solidFill>
                  <a:effectLst/>
                  <a:uLnTx/>
                  <a:uFillTx/>
                  <a:latin typeface="AvantGarde Md BT" pitchFamily="34" charset="0"/>
                  <a:ea typeface="微软雅黑" panose="020B0503020204020204" pitchFamily="34" charset="-122"/>
                  <a:cs typeface="+mn-cs"/>
                </a:rPr>
                <a:t>第五章</a:t>
              </a:r>
              <a:endPara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vantGarde Md BT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TextBox 4"/>
          <p:cNvSpPr txBox="1"/>
          <p:nvPr/>
        </p:nvSpPr>
        <p:spPr>
          <a:xfrm>
            <a:off x="1117919" y="2982885"/>
            <a:ext cx="4937760" cy="899160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lvl="0">
              <a:defRPr/>
            </a:pPr>
            <a:r>
              <a:rPr lang="zh-CN" altLang="en-US" sz="5400" b="1" dirty="0">
                <a:solidFill>
                  <a:srgbClr val="FFFFFF"/>
                </a:solidFill>
                <a:latin typeface="AvantGarde Md BT" pitchFamily="34" charset="0"/>
                <a:ea typeface="微软雅黑" panose="020B0503020204020204" pitchFamily="34" charset="-122"/>
              </a:rPr>
              <a:t>研究结论与贡献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10" name="组合 9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dk2">
                  <a:lumMod val="60000"/>
                  <a:lumOff val="40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dk2">
                  <a:lumMod val="75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2" name="直接连接符 11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03358E"/>
                  </a:gs>
                  <a:gs pos="100000">
                    <a:srgbClr val="03358E">
                      <a:lumMod val="40000"/>
                      <a:lumOff val="6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/>
            <p:cNvSpPr txBox="1"/>
            <p:nvPr/>
          </p:nvSpPr>
          <p:spPr>
            <a:xfrm>
              <a:off x="1163452" y="359073"/>
              <a:ext cx="1559560" cy="499110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 algn="l"/>
              <a:r>
                <a:rPr lang="zh-CN" altLang="en-US" sz="2800" b="1" dirty="0">
                  <a:solidFill>
                    <a:schemeClr val="dk2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研究结论</a:t>
              </a:r>
            </a:p>
          </p:txBody>
        </p:sp>
      </p:grpSp>
      <p:sp>
        <p:nvSpPr>
          <p:cNvPr id="18" name="Oval 9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23393" y="2348762"/>
            <a:ext cx="723995" cy="723900"/>
          </a:xfrm>
          <a:prstGeom prst="ellipse">
            <a:avLst/>
          </a:prstGeom>
          <a:solidFill>
            <a:schemeClr val="dk2">
              <a:lumMod val="10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</a:t>
            </a:r>
          </a:p>
        </p:txBody>
      </p:sp>
      <p:sp>
        <p:nvSpPr>
          <p:cNvPr id="19" name="Oval 1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788816" y="2290977"/>
            <a:ext cx="719232" cy="723900"/>
          </a:xfrm>
          <a:prstGeom prst="ellipse">
            <a:avLst/>
          </a:prstGeom>
          <a:solidFill>
            <a:schemeClr val="dk2">
              <a:lumMod val="10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</a:t>
            </a:r>
          </a:p>
        </p:txBody>
      </p:sp>
      <p:sp>
        <p:nvSpPr>
          <p:cNvPr id="20" name="Oval 1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62763" y="3875620"/>
            <a:ext cx="723995" cy="723900"/>
          </a:xfrm>
          <a:prstGeom prst="ellipse">
            <a:avLst/>
          </a:prstGeom>
          <a:solidFill>
            <a:schemeClr val="dk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</a:t>
            </a:r>
          </a:p>
        </p:txBody>
      </p:sp>
      <p:sp>
        <p:nvSpPr>
          <p:cNvPr id="21" name="Oval 1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788816" y="3875620"/>
            <a:ext cx="719232" cy="723900"/>
          </a:xfrm>
          <a:prstGeom prst="ellipse">
            <a:avLst/>
          </a:prstGeom>
          <a:solidFill>
            <a:schemeClr val="dk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</a:t>
            </a:r>
          </a:p>
        </p:txBody>
      </p:sp>
      <p:sp>
        <p:nvSpPr>
          <p:cNvPr id="22" name="TextBox 42"/>
          <p:cNvSpPr txBox="1"/>
          <p:nvPr>
            <p:custDataLst>
              <p:tags r:id="rId5"/>
            </p:custDataLst>
          </p:nvPr>
        </p:nvSpPr>
        <p:spPr>
          <a:xfrm>
            <a:off x="1386715" y="2147466"/>
            <a:ext cx="2961452" cy="415290"/>
          </a:xfrm>
          <a:prstGeom prst="rect">
            <a:avLst/>
          </a:prstGeom>
          <a:noFill/>
        </p:spPr>
        <p:txBody>
          <a:bodyPr wrap="square" lIns="91440" tIns="0" rIns="9144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治理模式转型</a:t>
            </a:r>
          </a:p>
        </p:txBody>
      </p:sp>
      <p:sp>
        <p:nvSpPr>
          <p:cNvPr id="23" name="TextBox 43"/>
          <p:cNvSpPr txBox="1"/>
          <p:nvPr>
            <p:custDataLst>
              <p:tags r:id="rId6"/>
            </p:custDataLst>
          </p:nvPr>
        </p:nvSpPr>
        <p:spPr>
          <a:xfrm>
            <a:off x="1395095" y="2532380"/>
            <a:ext cx="3990975" cy="105092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indent="0" fontAlgn="auto">
              <a:lnSpc>
                <a:spcPct val="130000"/>
              </a:lnSpc>
            </a:pP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新时代政府治理中模糊性任务（如供给侧结构性改革）日益增多，形成了</a:t>
            </a:r>
            <a:r>
              <a:rPr lang="zh-CN" altLang="en-US" sz="1600" dirty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</a:rPr>
              <a:t>以问责权为总领性权力的模糊性治理模式</a:t>
            </a: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。</a:t>
            </a:r>
          </a:p>
        </p:txBody>
      </p:sp>
      <p:sp>
        <p:nvSpPr>
          <p:cNvPr id="24" name="TextBox 44"/>
          <p:cNvSpPr txBox="1"/>
          <p:nvPr>
            <p:custDataLst>
              <p:tags r:id="rId7"/>
            </p:custDataLst>
          </p:nvPr>
        </p:nvSpPr>
        <p:spPr>
          <a:xfrm>
            <a:off x="1467995" y="3731474"/>
            <a:ext cx="2961452" cy="415290"/>
          </a:xfrm>
          <a:prstGeom prst="rect">
            <a:avLst/>
          </a:prstGeom>
          <a:noFill/>
        </p:spPr>
        <p:txBody>
          <a:bodyPr wrap="square" lIns="91440" tIns="0" rIns="91440" bIns="0" rtlCol="0" anchor="t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8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央地关系重构</a:t>
            </a:r>
          </a:p>
        </p:txBody>
      </p:sp>
      <p:sp>
        <p:nvSpPr>
          <p:cNvPr id="25" name="TextBox 45"/>
          <p:cNvSpPr txBox="1"/>
          <p:nvPr>
            <p:custDataLst>
              <p:tags r:id="rId8"/>
            </p:custDataLst>
          </p:nvPr>
        </p:nvSpPr>
        <p:spPr>
          <a:xfrm>
            <a:off x="1468120" y="4144645"/>
            <a:ext cx="3959860" cy="169100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indent="0" fontAlgn="auto">
              <a:lnSpc>
                <a:spcPct val="130000"/>
              </a:lnSpc>
            </a:pPr>
            <a:r>
              <a:rPr lang="en-US" altLang="zh-CN" sz="1600" b="1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·</a:t>
            </a: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权力分配：中央下放目标设定权，强化检查验收与激励分配权，形成</a:t>
            </a:r>
            <a:r>
              <a:rPr lang="en-US" altLang="zh-CN" sz="16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</a:t>
            </a:r>
            <a:r>
              <a:rPr lang="zh-CN" altLang="en-US" sz="16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治理下行、权威上行</a:t>
            </a:r>
            <a:r>
              <a:rPr lang="en-US" altLang="zh-CN" sz="16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r>
              <a:rPr lang="zh-CN" altLang="en-US" sz="1600" dirty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的新型央地关系</a:t>
            </a: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</a:t>
            </a:r>
          </a:p>
          <a:p>
            <a:pPr indent="0" fontAlgn="auto">
              <a:lnSpc>
                <a:spcPct val="130000"/>
              </a:lnSpc>
            </a:pPr>
            <a:r>
              <a:rPr lang="en-US" altLang="zh-CN" sz="1600" b="1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·</a:t>
            </a: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地方逻辑：从</a:t>
            </a:r>
            <a:r>
              <a:rPr lang="en-US" altLang="zh-CN" sz="1600" dirty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</a:t>
            </a:r>
            <a:r>
              <a:rPr lang="zh-CN" altLang="en-US" sz="1600" dirty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左右竞争</a:t>
            </a:r>
            <a:r>
              <a:rPr lang="en-US" altLang="zh-CN" sz="1600" dirty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转向</a:t>
            </a:r>
            <a:r>
              <a:rPr lang="en-US" altLang="zh-CN" sz="16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</a:t>
            </a:r>
            <a:r>
              <a:rPr lang="zh-CN" altLang="en-US" sz="16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向上看</a:t>
            </a:r>
            <a:r>
              <a:rPr lang="en-US" altLang="zh-CN" sz="16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，聚焦过程合规与程序正义。</a:t>
            </a:r>
          </a:p>
        </p:txBody>
      </p:sp>
      <p:sp>
        <p:nvSpPr>
          <p:cNvPr id="26" name="TextBox 46"/>
          <p:cNvSpPr txBox="1"/>
          <p:nvPr>
            <p:custDataLst>
              <p:tags r:id="rId9"/>
            </p:custDataLst>
          </p:nvPr>
        </p:nvSpPr>
        <p:spPr>
          <a:xfrm>
            <a:off x="6652976" y="2116986"/>
            <a:ext cx="2961452" cy="415290"/>
          </a:xfrm>
          <a:prstGeom prst="rect">
            <a:avLst/>
          </a:prstGeom>
          <a:noFill/>
        </p:spPr>
        <p:txBody>
          <a:bodyPr wrap="square" lIns="91440" tIns="0" rIns="9144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问责权成为核心权力</a:t>
            </a:r>
          </a:p>
        </p:txBody>
      </p:sp>
      <p:sp>
        <p:nvSpPr>
          <p:cNvPr id="27" name="TextBox 47"/>
          <p:cNvSpPr txBox="1"/>
          <p:nvPr>
            <p:custDataLst>
              <p:tags r:id="rId10"/>
            </p:custDataLst>
          </p:nvPr>
        </p:nvSpPr>
        <p:spPr>
          <a:xfrm>
            <a:off x="6620510" y="2484120"/>
            <a:ext cx="4498975" cy="13709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indent="0" fontAlgn="auto">
              <a:lnSpc>
                <a:spcPct val="130000"/>
              </a:lnSpc>
            </a:pPr>
            <a:r>
              <a:rPr lang="en-US" altLang="zh-CN" sz="1600" b="1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·</a:t>
            </a: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在模糊性治理中，</a:t>
            </a:r>
            <a:r>
              <a:rPr lang="zh-CN" altLang="en-US" sz="1600" dirty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</a:rPr>
              <a:t>问责权取代目标设定权</a:t>
            </a: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，成为治理体系的主导性权力。</a:t>
            </a:r>
          </a:p>
          <a:p>
            <a:pPr indent="0" fontAlgn="auto">
              <a:lnSpc>
                <a:spcPct val="130000"/>
              </a:lnSpc>
            </a:pPr>
            <a:r>
              <a:rPr lang="en-US" altLang="zh-CN" sz="1600" b="1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·</a:t>
            </a: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问责权整合了</a:t>
            </a:r>
            <a:r>
              <a:rPr lang="zh-CN" altLang="en-US" sz="1600" dirty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</a:rPr>
              <a:t>绩效考核、人民承诺与政治责任</a:t>
            </a: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，构建新型责任体系，保障模糊性任务有效落地。</a:t>
            </a:r>
          </a:p>
        </p:txBody>
      </p:sp>
      <p:sp>
        <p:nvSpPr>
          <p:cNvPr id="28" name="TextBox 48"/>
          <p:cNvSpPr txBox="1"/>
          <p:nvPr>
            <p:custDataLst>
              <p:tags r:id="rId11"/>
            </p:custDataLst>
          </p:nvPr>
        </p:nvSpPr>
        <p:spPr>
          <a:xfrm>
            <a:off x="6652976" y="3854664"/>
            <a:ext cx="2961452" cy="415290"/>
          </a:xfrm>
          <a:prstGeom prst="rect">
            <a:avLst/>
          </a:prstGeom>
          <a:noFill/>
        </p:spPr>
        <p:txBody>
          <a:bodyPr wrap="square" lIns="91440" tIns="0" rIns="91440" bIns="0" rtlCol="0" anchor="t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8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央地关系矛盾焦点转变</a:t>
            </a:r>
          </a:p>
        </p:txBody>
      </p:sp>
      <p:sp>
        <p:nvSpPr>
          <p:cNvPr id="29" name="TextBox 49"/>
          <p:cNvSpPr txBox="1"/>
          <p:nvPr>
            <p:custDataLst>
              <p:tags r:id="rId12"/>
            </p:custDataLst>
          </p:nvPr>
        </p:nvSpPr>
        <p:spPr>
          <a:xfrm>
            <a:off x="6652895" y="4269740"/>
            <a:ext cx="4531360" cy="105092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indent="0" fontAlgn="auto">
              <a:lnSpc>
                <a:spcPct val="130000"/>
              </a:lnSpc>
            </a:pP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核心矛盾从</a:t>
            </a:r>
            <a:r>
              <a:rPr lang="en-US" altLang="zh-CN" sz="1600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</a:t>
            </a: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集权与分权平衡</a:t>
            </a:r>
            <a:r>
              <a:rPr lang="en-US" altLang="zh-CN" sz="1600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”“</a:t>
            </a: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治理权与统辖权互弱</a:t>
            </a:r>
            <a:r>
              <a:rPr lang="en-US" altLang="zh-CN" sz="1600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，转向</a:t>
            </a:r>
            <a:r>
              <a:rPr lang="zh-CN" altLang="en-US" sz="16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如何解决治理权与统辖权之间的自洽问题</a:t>
            </a: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</a:t>
            </a:r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911225" y="1196975"/>
            <a:ext cx="6111875" cy="631825"/>
          </a:xfrm>
          <a:prstGeom prst="rect">
            <a:avLst/>
          </a:prstGeom>
          <a:solidFill>
            <a:schemeClr val="dk2">
              <a:lumMod val="10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《问责总领：模糊性任务的完成与央地关系新内涵》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4"/>
          <p:cNvGrpSpPr/>
          <p:nvPr>
            <p:custDataLst>
              <p:tags r:id="rId1"/>
            </p:custDataLst>
          </p:nvPr>
        </p:nvGrpSpPr>
        <p:grpSpPr>
          <a:xfrm>
            <a:off x="5379143" y="2943837"/>
            <a:ext cx="1414667" cy="1619124"/>
            <a:chOff x="5379142" y="2991066"/>
            <a:chExt cx="1414667" cy="1619124"/>
          </a:xfrm>
        </p:grpSpPr>
        <p:sp>
          <p:nvSpPr>
            <p:cNvPr id="15" name="Shape 1723"/>
            <p:cNvSpPr/>
            <p:nvPr>
              <p:custDataLst>
                <p:tags r:id="rId24"/>
              </p:custDataLst>
            </p:nvPr>
          </p:nvSpPr>
          <p:spPr>
            <a:xfrm rot="18900000">
              <a:off x="5379143" y="2991066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chemeClr val="dk2">
                <a:lumMod val="100000"/>
              </a:schemeClr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kumimoji="0" sz="3335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ler Light"/>
                <a:sym typeface="Aller Light"/>
              </a:endParaRPr>
            </a:p>
          </p:txBody>
        </p:sp>
        <p:sp>
          <p:nvSpPr>
            <p:cNvPr id="16" name="Shape 1726"/>
            <p:cNvSpPr/>
            <p:nvPr>
              <p:custDataLst>
                <p:tags r:id="rId25"/>
              </p:custDataLst>
            </p:nvPr>
          </p:nvSpPr>
          <p:spPr>
            <a:xfrm rot="18900000">
              <a:off x="5379142" y="3195523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rgbClr val="C4C7CB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kumimoji="0" sz="3335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ler Light"/>
                <a:sym typeface="Aller Light"/>
              </a:endParaRPr>
            </a:p>
          </p:txBody>
        </p:sp>
      </p:grpSp>
      <p:grpSp>
        <p:nvGrpSpPr>
          <p:cNvPr id="17" name="Group 12"/>
          <p:cNvGrpSpPr/>
          <p:nvPr>
            <p:custDataLst>
              <p:tags r:id="rId2"/>
            </p:custDataLst>
          </p:nvPr>
        </p:nvGrpSpPr>
        <p:grpSpPr>
          <a:xfrm>
            <a:off x="3563871" y="3152180"/>
            <a:ext cx="1414667" cy="1619124"/>
            <a:chOff x="3563871" y="3199409"/>
            <a:chExt cx="1414666" cy="1619124"/>
          </a:xfrm>
        </p:grpSpPr>
        <p:sp>
          <p:nvSpPr>
            <p:cNvPr id="18" name="Shape 1722"/>
            <p:cNvSpPr/>
            <p:nvPr>
              <p:custDataLst>
                <p:tags r:id="rId22"/>
              </p:custDataLst>
            </p:nvPr>
          </p:nvSpPr>
          <p:spPr>
            <a:xfrm rot="8100000">
              <a:off x="3563871" y="3403867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chemeClr val="dk2">
                <a:lumMod val="100000"/>
              </a:schemeClr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kumimoji="0" sz="3335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ler Light"/>
                <a:sym typeface="Aller Light"/>
              </a:endParaRPr>
            </a:p>
          </p:txBody>
        </p:sp>
        <p:sp>
          <p:nvSpPr>
            <p:cNvPr id="19" name="Shape 1729"/>
            <p:cNvSpPr/>
            <p:nvPr>
              <p:custDataLst>
                <p:tags r:id="rId23"/>
              </p:custDataLst>
            </p:nvPr>
          </p:nvSpPr>
          <p:spPr>
            <a:xfrm rot="8100000">
              <a:off x="3563871" y="3199409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rgbClr val="C4C7CB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kumimoji="0" sz="3335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ler Light"/>
                <a:sym typeface="Aller Light"/>
              </a:endParaRPr>
            </a:p>
          </p:txBody>
        </p:sp>
      </p:grpSp>
      <p:grpSp>
        <p:nvGrpSpPr>
          <p:cNvPr id="20" name="Group 11"/>
          <p:cNvGrpSpPr/>
          <p:nvPr>
            <p:custDataLst>
              <p:tags r:id="rId3"/>
            </p:custDataLst>
          </p:nvPr>
        </p:nvGrpSpPr>
        <p:grpSpPr>
          <a:xfrm>
            <a:off x="1743076" y="2943837"/>
            <a:ext cx="1414667" cy="1619124"/>
            <a:chOff x="1743076" y="2991066"/>
            <a:chExt cx="1414666" cy="1619124"/>
          </a:xfrm>
        </p:grpSpPr>
        <p:sp>
          <p:nvSpPr>
            <p:cNvPr id="21" name="Shape 1721"/>
            <p:cNvSpPr/>
            <p:nvPr>
              <p:custDataLst>
                <p:tags r:id="rId20"/>
              </p:custDataLst>
            </p:nvPr>
          </p:nvSpPr>
          <p:spPr>
            <a:xfrm rot="18900000">
              <a:off x="1743076" y="2991066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chemeClr val="dk2">
                <a:lumMod val="100000"/>
              </a:schemeClr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kumimoji="0" sz="3335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ler Light"/>
                <a:sym typeface="Aller Light"/>
              </a:endParaRPr>
            </a:p>
          </p:txBody>
        </p:sp>
        <p:sp>
          <p:nvSpPr>
            <p:cNvPr id="22" name="Shape 1732"/>
            <p:cNvSpPr/>
            <p:nvPr>
              <p:custDataLst>
                <p:tags r:id="rId21"/>
              </p:custDataLst>
            </p:nvPr>
          </p:nvSpPr>
          <p:spPr>
            <a:xfrm rot="18900000">
              <a:off x="1743076" y="3195523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rgbClr val="C4C7CB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kumimoji="0" sz="3335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ler Light"/>
                <a:sym typeface="Aller Light"/>
              </a:endParaRPr>
            </a:p>
          </p:txBody>
        </p:sp>
      </p:grpSp>
      <p:grpSp>
        <p:nvGrpSpPr>
          <p:cNvPr id="23" name="Group 15"/>
          <p:cNvGrpSpPr/>
          <p:nvPr>
            <p:custDataLst>
              <p:tags r:id="rId4"/>
            </p:custDataLst>
          </p:nvPr>
        </p:nvGrpSpPr>
        <p:grpSpPr>
          <a:xfrm>
            <a:off x="7138090" y="3236823"/>
            <a:ext cx="1414667" cy="1619125"/>
            <a:chOff x="7199937" y="3199409"/>
            <a:chExt cx="1414666" cy="1619125"/>
          </a:xfrm>
        </p:grpSpPr>
        <p:sp>
          <p:nvSpPr>
            <p:cNvPr id="24" name="Shape 1724"/>
            <p:cNvSpPr/>
            <p:nvPr>
              <p:custDataLst>
                <p:tags r:id="rId18"/>
              </p:custDataLst>
            </p:nvPr>
          </p:nvSpPr>
          <p:spPr>
            <a:xfrm rot="8100000">
              <a:off x="7199937" y="3403868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chemeClr val="dk2">
                <a:lumMod val="100000"/>
              </a:schemeClr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kumimoji="0" sz="3335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ler Light"/>
                <a:sym typeface="Aller Light"/>
              </a:endParaRPr>
            </a:p>
          </p:txBody>
        </p:sp>
        <p:sp>
          <p:nvSpPr>
            <p:cNvPr id="25" name="Shape 1735"/>
            <p:cNvSpPr/>
            <p:nvPr>
              <p:custDataLst>
                <p:tags r:id="rId19"/>
              </p:custDataLst>
            </p:nvPr>
          </p:nvSpPr>
          <p:spPr>
            <a:xfrm rot="8100000">
              <a:off x="7199937" y="3199409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rgbClr val="C4C7CB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kumimoji="0" sz="3335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ler Light"/>
                <a:sym typeface="Aller Light"/>
              </a:endParaRPr>
            </a:p>
          </p:txBody>
        </p:sp>
      </p:grpSp>
      <p:grpSp>
        <p:nvGrpSpPr>
          <p:cNvPr id="26" name="Group 16"/>
          <p:cNvGrpSpPr/>
          <p:nvPr>
            <p:custDataLst>
              <p:tags r:id="rId5"/>
            </p:custDataLst>
          </p:nvPr>
        </p:nvGrpSpPr>
        <p:grpSpPr>
          <a:xfrm>
            <a:off x="9015209" y="2943837"/>
            <a:ext cx="1414667" cy="1619124"/>
            <a:chOff x="9015209" y="2991066"/>
            <a:chExt cx="1414666" cy="1619124"/>
          </a:xfrm>
        </p:grpSpPr>
        <p:sp>
          <p:nvSpPr>
            <p:cNvPr id="27" name="Shape 1725"/>
            <p:cNvSpPr/>
            <p:nvPr>
              <p:custDataLst>
                <p:tags r:id="rId16"/>
              </p:custDataLst>
            </p:nvPr>
          </p:nvSpPr>
          <p:spPr>
            <a:xfrm rot="18900000">
              <a:off x="9015209" y="2991066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chemeClr val="dk2">
                <a:lumMod val="100000"/>
              </a:schemeClr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kumimoji="0" sz="3335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ler Light"/>
                <a:sym typeface="Aller Light"/>
              </a:endParaRPr>
            </a:p>
          </p:txBody>
        </p:sp>
        <p:sp>
          <p:nvSpPr>
            <p:cNvPr id="28" name="Shape 1738"/>
            <p:cNvSpPr/>
            <p:nvPr>
              <p:custDataLst>
                <p:tags r:id="rId17"/>
              </p:custDataLst>
            </p:nvPr>
          </p:nvSpPr>
          <p:spPr>
            <a:xfrm rot="18900000">
              <a:off x="9015209" y="3195523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rgbClr val="C4C7CB"/>
            </a:solidFill>
            <a:ln w="12700" cap="flat">
              <a:noFill/>
              <a:miter lim="400000"/>
            </a:ln>
            <a:effectLst/>
          </p:spPr>
          <p:txBody>
            <a:bodyPr wrap="square" lIns="67733" tIns="67733" rIns="67733" bIns="67733" numCol="1" anchor="ctr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kumimoji="0" sz="3335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ller Light"/>
                <a:sym typeface="Aller Light"/>
              </a:endParaRPr>
            </a:p>
          </p:txBody>
        </p:sp>
      </p:grpSp>
      <p:sp>
        <p:nvSpPr>
          <p:cNvPr id="29" name="Text Placeholder 4"/>
          <p:cNvSpPr txBox="1"/>
          <p:nvPr>
            <p:custDataLst>
              <p:tags r:id="rId6"/>
            </p:custDataLst>
          </p:nvPr>
        </p:nvSpPr>
        <p:spPr>
          <a:xfrm>
            <a:off x="1656715" y="3510915"/>
            <a:ext cx="1494155" cy="688340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总结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模糊性治理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新模式</a:t>
            </a:r>
          </a:p>
        </p:txBody>
      </p:sp>
      <p:sp>
        <p:nvSpPr>
          <p:cNvPr id="33" name="Text Placeholder 4"/>
          <p:cNvSpPr txBox="1"/>
          <p:nvPr>
            <p:custDataLst>
              <p:tags r:id="rId7"/>
            </p:custDataLst>
          </p:nvPr>
        </p:nvSpPr>
        <p:spPr>
          <a:xfrm>
            <a:off x="3383915" y="3515360"/>
            <a:ext cx="1702435" cy="689610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明晰非量化</a:t>
            </a:r>
          </a:p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任务落地逻辑</a:t>
            </a:r>
          </a:p>
        </p:txBody>
      </p:sp>
      <p:sp>
        <p:nvSpPr>
          <p:cNvPr id="34" name="Text Placeholder 4"/>
          <p:cNvSpPr txBox="1"/>
          <p:nvPr>
            <p:custDataLst>
              <p:tags r:id="rId8"/>
            </p:custDataLst>
          </p:nvPr>
        </p:nvSpPr>
        <p:spPr>
          <a:xfrm>
            <a:off x="5297170" y="3500755"/>
            <a:ext cx="1676400" cy="6724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重构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问责权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核心地位</a:t>
            </a:r>
          </a:p>
        </p:txBody>
      </p:sp>
      <p:sp>
        <p:nvSpPr>
          <p:cNvPr id="35" name="Text Placeholder 4"/>
          <p:cNvSpPr txBox="1"/>
          <p:nvPr>
            <p:custDataLst>
              <p:tags r:id="rId9"/>
            </p:custDataLst>
          </p:nvPr>
        </p:nvSpPr>
        <p:spPr>
          <a:xfrm>
            <a:off x="7176135" y="3644900"/>
            <a:ext cx="1416685" cy="408940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指导治理模式优化实践</a:t>
            </a:r>
          </a:p>
        </p:txBody>
      </p:sp>
      <p:sp>
        <p:nvSpPr>
          <p:cNvPr id="36" name="Text Placeholder 4"/>
          <p:cNvSpPr txBox="1"/>
          <p:nvPr>
            <p:custDataLst>
              <p:tags r:id="rId10"/>
            </p:custDataLst>
          </p:nvPr>
        </p:nvSpPr>
        <p:spPr>
          <a:xfrm>
            <a:off x="9022080" y="3515360"/>
            <a:ext cx="1403985" cy="5492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重塑央地</a:t>
            </a:r>
          </a:p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关系理论</a:t>
            </a:r>
          </a:p>
        </p:txBody>
      </p:sp>
      <p:sp>
        <p:nvSpPr>
          <p:cNvPr id="37" name="TextBox 21"/>
          <p:cNvSpPr txBox="1"/>
          <p:nvPr>
            <p:custDataLst>
              <p:tags r:id="rId11"/>
            </p:custDataLst>
          </p:nvPr>
        </p:nvSpPr>
        <p:spPr>
          <a:xfrm>
            <a:off x="1036320" y="1484630"/>
            <a:ext cx="2811145" cy="9232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indent="0" algn="just" defTabSz="1219200" rtl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+mn-cs"/>
              </a:rPr>
              <a:t>突破传统量化指标主导的确定性治理，系统阐释政府应对新时代复杂任务的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+mn-cs"/>
              </a:rPr>
              <a:t>新型治理模式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+mn-cs"/>
              </a:rPr>
              <a:t>。</a:t>
            </a:r>
          </a:p>
        </p:txBody>
      </p:sp>
      <p:sp>
        <p:nvSpPr>
          <p:cNvPr id="38" name="TextBox 22"/>
          <p:cNvSpPr txBox="1"/>
          <p:nvPr>
            <p:custDataLst>
              <p:tags r:id="rId12"/>
            </p:custDataLst>
          </p:nvPr>
        </p:nvSpPr>
        <p:spPr>
          <a:xfrm>
            <a:off x="2501265" y="5229225"/>
            <a:ext cx="3275330" cy="884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just" defTabSz="1219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+mn-cs"/>
              </a:rPr>
              <a:t>揭示了近年来民生工作、结构性改革等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+mn-cs"/>
              </a:rPr>
              <a:t>非量化任务的完成机理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+mn-cs"/>
              </a:rPr>
              <a:t>，阐明了国家监督体系嵌入治理的实际作用。</a:t>
            </a:r>
          </a:p>
        </p:txBody>
      </p:sp>
      <p:sp>
        <p:nvSpPr>
          <p:cNvPr id="39" name="TextBox 23"/>
          <p:cNvSpPr txBox="1"/>
          <p:nvPr>
            <p:custDataLst>
              <p:tags r:id="rId13"/>
            </p:custDataLst>
          </p:nvPr>
        </p:nvSpPr>
        <p:spPr>
          <a:xfrm>
            <a:off x="4537710" y="1340485"/>
            <a:ext cx="3211195" cy="123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indent="0" algn="just" defTabSz="1219200" rtl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揭示政府权力核心从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目标设定权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转向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检查验收权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，与激励结合升华为统领性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问责权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，为理解政府运行提供新权力分析视角。</a:t>
            </a:r>
          </a:p>
        </p:txBody>
      </p:sp>
      <p:sp>
        <p:nvSpPr>
          <p:cNvPr id="40" name="TextBox 24"/>
          <p:cNvSpPr txBox="1"/>
          <p:nvPr>
            <p:custDataLst>
              <p:tags r:id="rId14"/>
            </p:custDataLst>
          </p:nvPr>
        </p:nvSpPr>
        <p:spPr>
          <a:xfrm>
            <a:off x="6537960" y="5229225"/>
            <a:ext cx="3278505" cy="11798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just" defTabSz="1219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明确了模糊性治理中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强问责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+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弱目标设定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+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反向激励分配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的运作特征，为后续治理模式优化提供了理论参照。</a:t>
            </a:r>
          </a:p>
        </p:txBody>
      </p:sp>
      <p:sp>
        <p:nvSpPr>
          <p:cNvPr id="41" name="TextBox 25"/>
          <p:cNvSpPr txBox="1"/>
          <p:nvPr>
            <p:custDataLst>
              <p:tags r:id="rId15"/>
            </p:custDataLst>
          </p:nvPr>
        </p:nvSpPr>
        <p:spPr>
          <a:xfrm>
            <a:off x="8399780" y="1340485"/>
            <a:ext cx="3292475" cy="123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indent="0" algn="just" defTabSz="1219200" rtl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提出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治理下行、权威上行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框架，突破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集权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分权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二元对立，为理解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地方自主创新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与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中央权威保障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的兼容提供理论支撑。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3" name="组合 2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dk2">
                  <a:lumMod val="60000"/>
                  <a:lumOff val="40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dk2">
                  <a:lumMod val="75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03358E"/>
                  </a:gs>
                  <a:gs pos="100000">
                    <a:srgbClr val="03358E">
                      <a:lumMod val="40000"/>
                      <a:lumOff val="6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36"/>
            <p:cNvSpPr txBox="1"/>
            <p:nvPr/>
          </p:nvSpPr>
          <p:spPr>
            <a:xfrm>
              <a:off x="1163452" y="333038"/>
              <a:ext cx="1559560" cy="499110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zh-CN" altLang="en-US" sz="2800" b="1" dirty="0">
                  <a:solidFill>
                    <a:schemeClr val="dk2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研究贡献</a:t>
              </a: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99085" y="1052830"/>
            <a:ext cx="1405890" cy="398780"/>
          </a:xfrm>
          <a:prstGeom prst="rect">
            <a:avLst/>
          </a:prstGeom>
          <a:noFill/>
          <a:ln w="12700">
            <a:solidFill>
              <a:srgbClr val="00206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solidFill>
                  <a:srgbClr val="002060"/>
                </a:solidFill>
                <a:latin typeface="华文中宋" panose="02010600040101010101" charset="-122"/>
                <a:ea typeface="华文中宋" panose="02010600040101010101" charset="-122"/>
              </a:rPr>
              <a:t>理论层面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07670" y="4940935"/>
            <a:ext cx="1405890" cy="398780"/>
          </a:xfrm>
          <a:prstGeom prst="rect">
            <a:avLst/>
          </a:prstGeom>
          <a:noFill/>
          <a:ln w="12700">
            <a:solidFill>
              <a:srgbClr val="00206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solidFill>
                  <a:srgbClr val="002060"/>
                </a:solidFill>
                <a:latin typeface="华文中宋" panose="02010600040101010101" charset="-122"/>
                <a:ea typeface="华文中宋" panose="02010600040101010101" charset="-122"/>
              </a:rPr>
              <a:t>实践层面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0056" y="2060848"/>
            <a:ext cx="5097441" cy="507245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6042" y="22393"/>
            <a:ext cx="5097441" cy="5072454"/>
          </a:xfrm>
          <a:prstGeom prst="rect">
            <a:avLst/>
          </a:prstGeom>
        </p:spPr>
      </p:pic>
      <p:sp>
        <p:nvSpPr>
          <p:cNvPr id="2" name="任意多边形: 形状 1"/>
          <p:cNvSpPr/>
          <p:nvPr/>
        </p:nvSpPr>
        <p:spPr>
          <a:xfrm>
            <a:off x="0" y="1917472"/>
            <a:ext cx="10647949" cy="2952329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gradFill flip="none" rotWithShape="1">
            <a:gsLst>
              <a:gs pos="0">
                <a:schemeClr val="dk2">
                  <a:lumMod val="100000"/>
                </a:schemeClr>
              </a:gs>
              <a:gs pos="42000">
                <a:schemeClr val="dk2">
                  <a:lumMod val="100000"/>
                </a:schemeClr>
              </a:gs>
              <a:gs pos="74000">
                <a:schemeClr val="dk2">
                  <a:lumMod val="100000"/>
                </a:schemeClr>
              </a:gs>
              <a:gs pos="100000">
                <a:schemeClr val="dk2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7824190" y="2100860"/>
            <a:ext cx="3282569" cy="2664296"/>
            <a:chOff x="6103143" y="2244876"/>
            <a:chExt cx="2927697" cy="2376264"/>
          </a:xfrm>
        </p:grpSpPr>
        <p:sp>
          <p:nvSpPr>
            <p:cNvPr id="8" name="椭圆 7"/>
            <p:cNvSpPr/>
            <p:nvPr/>
          </p:nvSpPr>
          <p:spPr>
            <a:xfrm>
              <a:off x="6103143" y="2244876"/>
              <a:ext cx="2376264" cy="2376264"/>
            </a:xfrm>
            <a:prstGeom prst="ellipse">
              <a:avLst/>
            </a:prstGeom>
            <a:solidFill>
              <a:schemeClr val="lt1">
                <a:lumMod val="100000"/>
              </a:schemeClr>
            </a:solidFill>
            <a:ln>
              <a:solidFill>
                <a:schemeClr val="dk2">
                  <a:lumMod val="10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TextBox 21"/>
            <p:cNvSpPr txBox="1"/>
            <p:nvPr/>
          </p:nvSpPr>
          <p:spPr>
            <a:xfrm>
              <a:off x="6204439" y="2990371"/>
              <a:ext cx="2826401" cy="88464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>
                      <a:lumMod val="100000"/>
                    </a:schemeClr>
                  </a:solidFill>
                  <a:effectLst/>
                  <a:uLnTx/>
                  <a:uFillTx/>
                  <a:latin typeface="AvantGarde Md BT" pitchFamily="34" charset="0"/>
                  <a:ea typeface="微软雅黑" panose="020B0503020204020204" pitchFamily="34" charset="-122"/>
                  <a:cs typeface="+mn-cs"/>
                </a:rPr>
                <a:t>第六章</a:t>
              </a:r>
              <a:endPara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vantGarde Md BT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TextBox 4"/>
          <p:cNvSpPr txBox="1"/>
          <p:nvPr/>
        </p:nvSpPr>
        <p:spPr>
          <a:xfrm>
            <a:off x="839154" y="2982885"/>
            <a:ext cx="6309360" cy="899160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antGarde Md BT" pitchFamily="34" charset="0"/>
                <a:ea typeface="微软雅黑" panose="020B0503020204020204" pitchFamily="34" charset="-122"/>
                <a:cs typeface="+mn-cs"/>
              </a:rPr>
              <a:t>两篇论文的对比分析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99356" y="139363"/>
            <a:ext cx="6372708" cy="682262"/>
            <a:chOff x="299356" y="260648"/>
            <a:chExt cx="6372708" cy="682262"/>
          </a:xfrm>
        </p:grpSpPr>
        <p:grpSp>
          <p:nvGrpSpPr>
            <p:cNvPr id="4" name="组合 3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dk2">
                  <a:lumMod val="60000"/>
                  <a:lumOff val="40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dk2">
                  <a:lumMod val="75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5" name="直接连接符 4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03358E"/>
                  </a:gs>
                  <a:gs pos="100000">
                    <a:srgbClr val="03358E">
                      <a:lumMod val="40000"/>
                      <a:lumOff val="6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36"/>
            <p:cNvSpPr txBox="1"/>
            <p:nvPr/>
          </p:nvSpPr>
          <p:spPr>
            <a:xfrm>
              <a:off x="1163452" y="260648"/>
              <a:ext cx="3794760" cy="560705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 algn="l"/>
              <a:r>
                <a:rPr lang="zh-CN" altLang="en-US" sz="3200" b="1" dirty="0">
                  <a:solidFill>
                    <a:schemeClr val="dk2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两篇论文的对比分析</a:t>
              </a: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635" y="1628775"/>
            <a:ext cx="3575685" cy="47663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635" y="1628140"/>
            <a:ext cx="3513455" cy="47669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文本框 8"/>
          <p:cNvSpPr txBox="1"/>
          <p:nvPr/>
        </p:nvSpPr>
        <p:spPr>
          <a:xfrm>
            <a:off x="1990725" y="880745"/>
            <a:ext cx="3723640" cy="64516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indent="0" algn="l" fontAlgn="auto">
              <a:lnSpc>
                <a:spcPct val="10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《突破科层约束：特大城市数字化风险防控的组织变革》吴晓林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078345" y="880745"/>
            <a:ext cx="3327400" cy="64516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>
              <a:buClrTx/>
              <a:buSzTx/>
              <a:buFontTx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《问责总领：模糊性任务的完成与央地关系新内涵》何艳玲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880100" y="3573145"/>
            <a:ext cx="863600" cy="58356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</a:rPr>
              <a:t>VS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99356" y="188893"/>
            <a:ext cx="6372708" cy="682262"/>
            <a:chOff x="299356" y="260648"/>
            <a:chExt cx="6372708" cy="682262"/>
          </a:xfrm>
        </p:grpSpPr>
        <p:grpSp>
          <p:nvGrpSpPr>
            <p:cNvPr id="3" name="组合 2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dk2">
                  <a:lumMod val="60000"/>
                  <a:lumOff val="40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dk2">
                  <a:lumMod val="75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5" name="直接连接符 4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03358E"/>
                  </a:gs>
                  <a:gs pos="100000">
                    <a:srgbClr val="03358E">
                      <a:lumMod val="40000"/>
                      <a:lumOff val="6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36"/>
            <p:cNvSpPr txBox="1"/>
            <p:nvPr/>
          </p:nvSpPr>
          <p:spPr>
            <a:xfrm>
              <a:off x="1163452" y="260648"/>
              <a:ext cx="3794760" cy="560705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 algn="l"/>
              <a:r>
                <a:rPr lang="zh-CN" altLang="en-US" sz="3200" b="1" dirty="0">
                  <a:solidFill>
                    <a:schemeClr val="dk2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两篇论文的对比分析</a:t>
              </a:r>
            </a:p>
          </p:txBody>
        </p:sp>
      </p:grp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479425" y="951865"/>
          <a:ext cx="11421745" cy="5632134"/>
        </p:xfrm>
        <a:graphic>
          <a:graphicData uri="http://schemas.openxmlformats.org/drawingml/2006/table">
            <a:tbl>
              <a:tblPr firstRow="1" bandRow="1">
                <a:tableStyleId>{1E45D5F7-0F8A-49D9-BE6A-C54F4FC082F8}</a:tableStyleId>
              </a:tblPr>
              <a:tblGrid>
                <a:gridCol w="2287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3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9441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对比维度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《突破科层约束：特大城市数字化风险防控的组织变革》（吴晓林）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《问责总领：模糊性任务的完成与央地关系新内涵》（何艳玲）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41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800" b="1">
                          <a:latin typeface="华文中宋" panose="02010600040101010101" charset="-122"/>
                          <a:ea typeface="华文中宋" panose="02010600040101010101" charset="-122"/>
                        </a:rPr>
                        <a:t>核心议题及关注重点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800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突破科层壁垒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实现</a:t>
                      </a:r>
                      <a:r>
                        <a:rPr lang="zh-CN" altLang="en-US" sz="1800">
                          <a:solidFill>
                            <a:srgbClr val="0070C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数字化风险防控转型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，关注</a:t>
                      </a:r>
                      <a:r>
                        <a:rPr lang="zh-CN" altLang="en-US" sz="1800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组织内部协同效率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（跨部门数据归集、联动机制、市</a:t>
                      </a:r>
                      <a:r>
                        <a:rPr lang="en-US" altLang="zh-CN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-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区</a:t>
                      </a:r>
                      <a:r>
                        <a:rPr lang="en-US" altLang="zh-CN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-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镇三级体系落地）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以</a:t>
                      </a:r>
                      <a:r>
                        <a:rPr lang="zh-CN" altLang="en-US" sz="1800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权力重构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破解</a:t>
                      </a:r>
                      <a:r>
                        <a:rPr lang="zh-CN" altLang="en-US" sz="1800">
                          <a:solidFill>
                            <a:srgbClr val="0070C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模糊性任务执行与央地权威效率矛盾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，关注</a:t>
                      </a:r>
                      <a:r>
                        <a:rPr lang="zh-CN" altLang="en-US" sz="1800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政府间权力关系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（央地分权转型、中央权威与地方自主适配）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441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800" b="1">
                          <a:latin typeface="华文中宋" panose="02010600040101010101" charset="-122"/>
                          <a:ea typeface="华文中宋" panose="02010600040101010101" charset="-122"/>
                        </a:rPr>
                        <a:t>分析视角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800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微观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（</a:t>
                      </a:r>
                      <a:r>
                        <a:rPr lang="en-US" altLang="zh-CN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“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智慧安全佛山</a:t>
                      </a:r>
                      <a:r>
                        <a:rPr lang="en-US" altLang="zh-CN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”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案例）</a:t>
                      </a:r>
                      <a:r>
                        <a:rPr lang="en-US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→</a:t>
                      </a:r>
                      <a:r>
                        <a:rPr lang="en-US" altLang="zh-CN" sz="1800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 </a:t>
                      </a:r>
                      <a:r>
                        <a:rPr lang="zh-CN" altLang="en-US" sz="1800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中观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（特大城市突破科层约束实现数字化转型）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800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微观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（供给侧结构性改革案例）</a:t>
                      </a:r>
                      <a:r>
                        <a:rPr lang="en-US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→</a:t>
                      </a:r>
                      <a:r>
                        <a:rPr lang="en-US" altLang="zh-CN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 </a:t>
                      </a:r>
                      <a:r>
                        <a:rPr lang="zh-CN" altLang="en-US" sz="1800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中观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（科层制权力关系变化：问责权超越目标设定权、检查验收权和激励分配权，成为总领性权力）</a:t>
                      </a:r>
                      <a:r>
                        <a:rPr lang="en-US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→</a:t>
                      </a:r>
                      <a:r>
                        <a:rPr lang="en-US" altLang="zh-CN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 </a:t>
                      </a:r>
                      <a:r>
                        <a:rPr lang="zh-CN" altLang="en-US" sz="1800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宏观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（央地关系改变）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441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800" b="1">
                          <a:latin typeface="华文中宋" panose="02010600040101010101" charset="-122"/>
                          <a:ea typeface="华文中宋" panose="02010600040101010101" charset="-122"/>
                        </a:rPr>
                        <a:t>关键机制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三重联动机制：</a:t>
                      </a:r>
                    </a:p>
                    <a:p>
                      <a:pPr indent="0" algn="l" fontAlgn="auto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1. </a:t>
                      </a:r>
                      <a:r>
                        <a:rPr lang="zh-CN" altLang="en-US" sz="1800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高位赋权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（制度</a:t>
                      </a:r>
                      <a:r>
                        <a:rPr lang="en-US" altLang="zh-CN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/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组织</a:t>
                      </a:r>
                      <a:r>
                        <a:rPr lang="en-US" altLang="zh-CN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/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资源赋权，奠定权威基础）</a:t>
                      </a:r>
                    </a:p>
                    <a:p>
                      <a:pPr indent="0" algn="l" fontAlgn="auto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2. </a:t>
                      </a:r>
                      <a:r>
                        <a:rPr lang="zh-CN" altLang="en-US" sz="1800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分利互惠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（收益共享、减负增效，保障参与者收益）</a:t>
                      </a:r>
                    </a:p>
                    <a:p>
                      <a:pPr indent="0" algn="l" fontAlgn="auto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3. </a:t>
                      </a:r>
                      <a:r>
                        <a:rPr lang="zh-CN" altLang="en-US" sz="1800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价值共创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（价值确认内化，形成内生动力）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1.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模糊性任务执行的三大核心机制</a:t>
                      </a:r>
                      <a:r>
                        <a:rPr lang="en-US" altLang="zh-CN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——</a:t>
                      </a:r>
                      <a:r>
                        <a:rPr lang="zh-CN" altLang="en-US" sz="1800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目标设定、检查验收、激励分配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，为问责权总领落地、突破传统量化约束提供支撑</a:t>
                      </a:r>
                    </a:p>
                    <a:p>
                      <a:pPr indent="0" algn="l" fontAlgn="auto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2.</a:t>
                      </a:r>
                      <a:r>
                        <a:rPr lang="en-US" altLang="zh-CN" sz="1800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“</a:t>
                      </a:r>
                      <a:r>
                        <a:rPr lang="zh-CN" altLang="en-US" sz="1800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问责权总领</a:t>
                      </a:r>
                      <a:r>
                        <a:rPr lang="en-US" altLang="zh-CN" sz="1800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”</a:t>
                      </a:r>
                      <a:r>
                        <a:rPr lang="en-US" altLang="zh-CN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——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整合绩效考核、政治责任与人民承诺，构建新责任体系，主导任务完成全流程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3" name="组合 2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dk2">
                  <a:lumMod val="60000"/>
                  <a:lumOff val="40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dk2">
                  <a:lumMod val="75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5" name="直接连接符 4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03358E"/>
                  </a:gs>
                  <a:gs pos="100000">
                    <a:srgbClr val="03358E">
                      <a:lumMod val="40000"/>
                      <a:lumOff val="6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36"/>
            <p:cNvSpPr txBox="1"/>
            <p:nvPr/>
          </p:nvSpPr>
          <p:spPr>
            <a:xfrm>
              <a:off x="1163452" y="260648"/>
              <a:ext cx="3794760" cy="560705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 algn="l"/>
              <a:r>
                <a:rPr lang="zh-CN" altLang="en-US" sz="3200" b="1" dirty="0">
                  <a:solidFill>
                    <a:schemeClr val="dk2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两篇论文的对比分析</a:t>
              </a:r>
            </a:p>
          </p:txBody>
        </p:sp>
      </p:grp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06070" y="1426210"/>
          <a:ext cx="11421745" cy="4371976"/>
        </p:xfrm>
        <a:graphic>
          <a:graphicData uri="http://schemas.openxmlformats.org/drawingml/2006/table">
            <a:tbl>
              <a:tblPr firstRow="1" bandRow="1">
                <a:tableStyleId>{1E45D5F7-0F8A-49D9-BE6A-C54F4FC082F8}</a:tableStyleId>
              </a:tblPr>
              <a:tblGrid>
                <a:gridCol w="2712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9441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对比维度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《突破科层约束：特大城市数字化风险防控的组织变革》（吴晓林）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《问责总领：模糊性任务的完成与央地关系新内涵》（何艳玲）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41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>
                          <a:latin typeface="华文中宋" panose="02010600040101010101" charset="-122"/>
                          <a:ea typeface="华文中宋" panose="02010600040101010101" charset="-122"/>
                        </a:rPr>
                        <a:t>对科层制的态度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“</a:t>
                      </a:r>
                      <a:r>
                        <a:rPr lang="zh-CN" altLang="en-US" sz="1800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突破科层约束</a:t>
                      </a:r>
                      <a:r>
                        <a:rPr lang="en-US" altLang="zh-CN" sz="1800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”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：认为科层壁垒（部门平级、数据分割）是数字化转型的核心障碍，需通过外部机制（高位推动、利益协调）跨越约束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“</a:t>
                      </a:r>
                      <a:r>
                        <a:rPr lang="zh-CN" altLang="en-US" sz="1800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改造科层功能</a:t>
                      </a:r>
                      <a:r>
                        <a:rPr lang="en-US" altLang="zh-CN" sz="1800">
                          <a:solidFill>
                            <a:srgbClr val="C0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”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：不否定科层制基础，通过问责权调整科层内部权力分配（弱化目标设定权、强化检查验收权），适配模糊性任务治理需求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441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>
                          <a:latin typeface="华文中宋" panose="02010600040101010101" charset="-122"/>
                          <a:ea typeface="华文中宋" panose="02010600040101010101" charset="-122"/>
                        </a:rPr>
                        <a:t>研究贡献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1.</a:t>
                      </a:r>
                      <a:r>
                        <a:rPr lang="zh-CN" altLang="en-US" sz="1800">
                          <a:solidFill>
                            <a:srgbClr val="0070C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深化数字化治理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研究，强调行动者能动性，批判技术决定论</a:t>
                      </a:r>
                      <a:endParaRPr lang="en-US" altLang="zh-CN" sz="1800"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2.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构建</a:t>
                      </a:r>
                      <a:r>
                        <a:rPr lang="en-US" altLang="zh-CN" sz="1800">
                          <a:solidFill>
                            <a:srgbClr val="0070C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PIV</a:t>
                      </a:r>
                      <a:r>
                        <a:rPr lang="zh-CN" altLang="en-US" sz="1800">
                          <a:solidFill>
                            <a:srgbClr val="0070C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框架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，为科层协同提供可操作机制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1.</a:t>
                      </a:r>
                      <a:r>
                        <a:rPr lang="zh-CN" altLang="en-US" sz="1800">
                          <a:solidFill>
                            <a:srgbClr val="0070C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拓展央地关系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研究，提出</a:t>
                      </a:r>
                      <a:r>
                        <a:rPr lang="en-US" altLang="zh-CN" sz="1800">
                          <a:solidFill>
                            <a:srgbClr val="0070C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“</a:t>
                      </a:r>
                      <a:r>
                        <a:rPr lang="zh-CN" altLang="en-US" sz="1800">
                          <a:solidFill>
                            <a:srgbClr val="0070C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任务</a:t>
                      </a:r>
                      <a:r>
                        <a:rPr lang="en-US" altLang="zh-CN" sz="1800">
                          <a:solidFill>
                            <a:srgbClr val="0070C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-</a:t>
                      </a:r>
                      <a:r>
                        <a:rPr lang="zh-CN" altLang="en-US" sz="1800">
                          <a:solidFill>
                            <a:srgbClr val="0070C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责任分权</a:t>
                      </a:r>
                      <a:r>
                        <a:rPr lang="en-US" altLang="zh-CN" sz="1800">
                          <a:solidFill>
                            <a:srgbClr val="0070C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”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新模式</a:t>
                      </a:r>
                      <a:endParaRPr lang="en-US" altLang="zh-CN" sz="1800"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2.</a:t>
                      </a:r>
                      <a:r>
                        <a:rPr lang="zh-CN" altLang="en-US" sz="1800">
                          <a:latin typeface="华文中宋" panose="02010600040101010101" charset="-122"/>
                          <a:ea typeface="华文中宋" panose="02010600040101010101" charset="-122"/>
                        </a:rPr>
                        <a:t>揭示</a:t>
                      </a:r>
                      <a:r>
                        <a:rPr lang="zh-CN" altLang="en-US" sz="1800">
                          <a:solidFill>
                            <a:srgbClr val="0070C0"/>
                          </a:solidFill>
                          <a:latin typeface="华文中宋" panose="02010600040101010101" charset="-122"/>
                          <a:ea typeface="华文中宋" panose="02010600040101010101" charset="-122"/>
                        </a:rPr>
                        <a:t>问责权的总领性作用</a:t>
                      </a:r>
                      <a:endParaRPr lang="zh-CN" altLang="en-US" sz="1800"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0056" y="2060848"/>
            <a:ext cx="5097441" cy="507245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6042" y="22393"/>
            <a:ext cx="5097441" cy="5072454"/>
          </a:xfrm>
          <a:prstGeom prst="rect">
            <a:avLst/>
          </a:prstGeom>
        </p:spPr>
      </p:pic>
      <p:sp>
        <p:nvSpPr>
          <p:cNvPr id="2" name="任意多边形: 形状 1"/>
          <p:cNvSpPr/>
          <p:nvPr/>
        </p:nvSpPr>
        <p:spPr>
          <a:xfrm>
            <a:off x="0" y="1917472"/>
            <a:ext cx="10647949" cy="2952329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gradFill flip="none" rotWithShape="1">
            <a:gsLst>
              <a:gs pos="0">
                <a:schemeClr val="dk2">
                  <a:lumMod val="100000"/>
                </a:schemeClr>
              </a:gs>
              <a:gs pos="42000">
                <a:schemeClr val="dk2">
                  <a:lumMod val="100000"/>
                </a:schemeClr>
              </a:gs>
              <a:gs pos="74000">
                <a:schemeClr val="dk2">
                  <a:lumMod val="100000"/>
                </a:schemeClr>
              </a:gs>
              <a:gs pos="100000">
                <a:schemeClr val="dk2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7824190" y="2100860"/>
            <a:ext cx="3282569" cy="2664296"/>
            <a:chOff x="6103143" y="2244876"/>
            <a:chExt cx="2927697" cy="2376264"/>
          </a:xfrm>
        </p:grpSpPr>
        <p:sp>
          <p:nvSpPr>
            <p:cNvPr id="8" name="椭圆 7"/>
            <p:cNvSpPr/>
            <p:nvPr/>
          </p:nvSpPr>
          <p:spPr>
            <a:xfrm>
              <a:off x="6103143" y="2244876"/>
              <a:ext cx="2376264" cy="2376264"/>
            </a:xfrm>
            <a:prstGeom prst="ellipse">
              <a:avLst/>
            </a:prstGeom>
            <a:solidFill>
              <a:schemeClr val="lt1">
                <a:lumMod val="100000"/>
              </a:schemeClr>
            </a:solidFill>
            <a:ln>
              <a:solidFill>
                <a:schemeClr val="dk2">
                  <a:lumMod val="10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TextBox 21"/>
            <p:cNvSpPr txBox="1"/>
            <p:nvPr/>
          </p:nvSpPr>
          <p:spPr>
            <a:xfrm>
              <a:off x="6204439" y="2990371"/>
              <a:ext cx="2826401" cy="88464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>
                      <a:lumMod val="100000"/>
                    </a:schemeClr>
                  </a:solidFill>
                  <a:effectLst/>
                  <a:uLnTx/>
                  <a:uFillTx/>
                  <a:latin typeface="AvantGarde Md BT" pitchFamily="34" charset="0"/>
                  <a:ea typeface="微软雅黑" panose="020B0503020204020204" pitchFamily="34" charset="-122"/>
                  <a:cs typeface="+mn-cs"/>
                </a:rPr>
                <a:t>第七章</a:t>
              </a:r>
              <a:endPara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vantGarde Md BT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TextBox 4"/>
          <p:cNvSpPr txBox="1"/>
          <p:nvPr/>
        </p:nvSpPr>
        <p:spPr>
          <a:xfrm>
            <a:off x="1117919" y="2982885"/>
            <a:ext cx="3566160" cy="899160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antGarde Md BT" pitchFamily="34" charset="0"/>
                <a:ea typeface="微软雅黑" panose="020B0503020204020204" pitchFamily="34" charset="-122"/>
                <a:cs typeface="+mn-cs"/>
              </a:rPr>
              <a:t>启示与思考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内容占位符 1"/>
          <p:cNvSpPr txBox="1"/>
          <p:nvPr/>
        </p:nvSpPr>
        <p:spPr>
          <a:xfrm>
            <a:off x="439420" y="1427480"/>
            <a:ext cx="10974705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一、理论认知：打破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西方理论套用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，深化对中国治理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本土化理论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的理解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3" name="组合 2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dk2">
                  <a:lumMod val="60000"/>
                  <a:lumOff val="40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dk2">
                  <a:lumMod val="75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03358E"/>
                  </a:gs>
                  <a:gs pos="100000">
                    <a:srgbClr val="03358E">
                      <a:lumMod val="40000"/>
                      <a:lumOff val="6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36"/>
            <p:cNvSpPr txBox="1"/>
            <p:nvPr/>
          </p:nvSpPr>
          <p:spPr>
            <a:xfrm>
              <a:off x="1163452" y="260648"/>
              <a:ext cx="1915160" cy="499110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zh-CN" altLang="en-US" sz="2800" b="1" dirty="0">
                  <a:solidFill>
                    <a:schemeClr val="dk2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启示与思考</a:t>
              </a:r>
            </a:p>
          </p:txBody>
        </p:sp>
      </p:grpSp>
      <p:sp>
        <p:nvSpPr>
          <p:cNvPr id="38" name="椭圆 37"/>
          <p:cNvSpPr/>
          <p:nvPr>
            <p:custDataLst>
              <p:tags r:id="rId1"/>
            </p:custDataLst>
          </p:nvPr>
        </p:nvSpPr>
        <p:spPr>
          <a:xfrm>
            <a:off x="1247775" y="2085975"/>
            <a:ext cx="688975" cy="68897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kern="1200">
                <a:solidFill>
                  <a:srgbClr val="FFFFFF"/>
                </a:solidFill>
                <a:effectLst/>
                <a:latin typeface="+mn-ea"/>
                <a:cs typeface="+mn-ea"/>
                <a:sym typeface="+mn-ea"/>
              </a:rPr>
              <a:t>01</a:t>
            </a:r>
          </a:p>
        </p:txBody>
      </p:sp>
      <p:sp>
        <p:nvSpPr>
          <p:cNvPr id="39" name="椭圆 38"/>
          <p:cNvSpPr/>
          <p:nvPr>
            <p:custDataLst>
              <p:tags r:id="rId2"/>
            </p:custDataLst>
          </p:nvPr>
        </p:nvSpPr>
        <p:spPr>
          <a:xfrm>
            <a:off x="1247775" y="4138296"/>
            <a:ext cx="688975" cy="688975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kern="1200">
                <a:solidFill>
                  <a:srgbClr val="FFFFFF"/>
                </a:solidFill>
                <a:effectLst/>
                <a:latin typeface="+mn-ea"/>
                <a:cs typeface="+mn-ea"/>
                <a:sym typeface="+mn-ea"/>
              </a:rPr>
              <a:t>02</a:t>
            </a:r>
          </a:p>
        </p:txBody>
      </p:sp>
      <p:sp>
        <p:nvSpPr>
          <p:cNvPr id="40" name="矩形 39"/>
          <p:cNvSpPr/>
          <p:nvPr>
            <p:custDataLst>
              <p:tags r:id="rId3"/>
            </p:custDataLst>
          </p:nvPr>
        </p:nvSpPr>
        <p:spPr bwMode="auto">
          <a:xfrm>
            <a:off x="2063750" y="2204720"/>
            <a:ext cx="900303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Autofit/>
          </a:bodyPr>
          <a:lstStyle/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2000" b="1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重新审视科层制理论的“中国适配性”：突破“确定性=科层效率”的刻板认知</a:t>
            </a:r>
            <a:r>
              <a:rPr lang="zh-CN" altLang="en-US" sz="2000" b="1">
                <a:solidFill>
                  <a:schemeClr val="accent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</a:p>
        </p:txBody>
      </p:sp>
      <p:sp>
        <p:nvSpPr>
          <p:cNvPr id="41" name="矩形 40"/>
          <p:cNvSpPr/>
          <p:nvPr>
            <p:custDataLst>
              <p:tags r:id="rId4"/>
            </p:custDataLst>
          </p:nvPr>
        </p:nvSpPr>
        <p:spPr>
          <a:xfrm>
            <a:off x="2087245" y="2728595"/>
            <a:ext cx="8857615" cy="114300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indent="0" algn="just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n>
                  <a:noFill/>
                  <a:prstDash val="sysDot"/>
                </a:ln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    </a:t>
            </a:r>
            <a:r>
              <a:rPr lang="zh-CN" altLang="en-US" dirty="0">
                <a:ln>
                  <a:noFill/>
                  <a:prstDash val="sysDot"/>
                </a:ln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未来研究中，需警惕“理论预设先行”。分析中国科层组织时，不能局限于“确定性取向”的西方标准，而要关注“权力运行逻辑”的本土化特征（如“党领导下的问责权”对科层的重塑）。</a:t>
            </a:r>
          </a:p>
        </p:txBody>
      </p:sp>
      <p:sp>
        <p:nvSpPr>
          <p:cNvPr id="42" name="矩形 41"/>
          <p:cNvSpPr/>
          <p:nvPr>
            <p:custDataLst>
              <p:tags r:id="rId5"/>
            </p:custDataLst>
          </p:nvPr>
        </p:nvSpPr>
        <p:spPr bwMode="auto">
          <a:xfrm>
            <a:off x="2063750" y="4133215"/>
            <a:ext cx="8383905" cy="464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Autofit/>
          </a:bodyPr>
          <a:lstStyle/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2000" b="1" dirty="0">
                <a:solidFill>
                  <a:schemeClr val="accent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重构央地关系的“分析范式”：摆脱“集权-分权二元对立”的线性思维</a:t>
            </a:r>
          </a:p>
        </p:txBody>
      </p:sp>
      <p:sp>
        <p:nvSpPr>
          <p:cNvPr id="43" name="矩形 42"/>
          <p:cNvSpPr/>
          <p:nvPr>
            <p:custDataLst>
              <p:tags r:id="rId6"/>
            </p:custDataLst>
          </p:nvPr>
        </p:nvSpPr>
        <p:spPr>
          <a:xfrm>
            <a:off x="1991360" y="4797425"/>
            <a:ext cx="8835390" cy="114300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indent="0" algn="just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      </a:t>
            </a:r>
            <a:r>
              <a:rPr lang="zh-CN" altLang="en-US" dirty="0">
                <a:ln>
                  <a:noFill/>
                  <a:prstDash val="sysDot"/>
                </a:ln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以往学习央地关系时，常陷入“</a:t>
            </a:r>
            <a:r>
              <a:rPr lang="en-US" altLang="zh-CN" dirty="0">
                <a:ln>
                  <a:noFill/>
                  <a:prstDash val="sysDot"/>
                </a:ln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‘</a:t>
            </a:r>
            <a:r>
              <a:rPr lang="zh-CN" altLang="en-US" dirty="0">
                <a:ln>
                  <a:noFill/>
                  <a:prstDash val="sysDot"/>
                </a:ln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收权</a:t>
            </a:r>
            <a:r>
              <a:rPr lang="en-US" altLang="zh-CN" dirty="0">
                <a:ln>
                  <a:noFill/>
                  <a:prstDash val="sysDot"/>
                </a:ln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’</a:t>
            </a:r>
            <a:r>
              <a:rPr lang="zh-CN" altLang="en-US" dirty="0">
                <a:ln>
                  <a:noFill/>
                  <a:prstDash val="sysDot"/>
                </a:ln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还是</a:t>
            </a:r>
            <a:r>
              <a:rPr lang="en-US" altLang="zh-CN" dirty="0">
                <a:ln>
                  <a:noFill/>
                  <a:prstDash val="sysDot"/>
                </a:ln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‘</a:t>
            </a:r>
            <a:r>
              <a:rPr lang="zh-CN" altLang="en-US" dirty="0">
                <a:ln>
                  <a:noFill/>
                  <a:prstDash val="sysDot"/>
                </a:ln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放权</a:t>
            </a:r>
            <a:r>
              <a:rPr lang="en-US" altLang="zh-CN" dirty="0">
                <a:ln>
                  <a:noFill/>
                  <a:prstDash val="sysDot"/>
                </a:ln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’</a:t>
            </a:r>
            <a:r>
              <a:rPr lang="zh-CN" altLang="en-US" dirty="0">
                <a:ln>
                  <a:noFill/>
                  <a:prstDash val="sysDot"/>
                </a:ln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”的争论，但论文提出的“任务</a:t>
            </a:r>
            <a:r>
              <a:rPr lang="en-US" altLang="zh-CN" dirty="0">
                <a:ln>
                  <a:noFill/>
                  <a:prstDash val="sysDot"/>
                </a:ln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</a:t>
            </a:r>
            <a:r>
              <a:rPr lang="zh-CN" altLang="en-US" dirty="0">
                <a:ln>
                  <a:noFill/>
                  <a:prstDash val="sysDot"/>
                </a:ln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责任”模式打破了这一认知，任务维度（治理权）的“下放”与责任维度（统辖权）的“集中”可并行不悖，未来可探讨如何让地方灵活性与中央权威形成“互补而非冲突”。</a:t>
            </a:r>
          </a:p>
        </p:txBody>
      </p:sp>
      <p:cxnSp>
        <p:nvCxnSpPr>
          <p:cNvPr id="8" name="直接连接符 7"/>
          <p:cNvCxnSpPr>
            <a:endCxn id="39" idx="0"/>
          </p:cNvCxnSpPr>
          <p:nvPr/>
        </p:nvCxnSpPr>
        <p:spPr>
          <a:xfrm>
            <a:off x="1592580" y="2853055"/>
            <a:ext cx="0" cy="128524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内容占位符 1"/>
          <p:cNvSpPr txBox="1"/>
          <p:nvPr/>
        </p:nvSpPr>
        <p:spPr>
          <a:xfrm>
            <a:off x="439420" y="1427480"/>
            <a:ext cx="10974705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二、学术思维：以典型案例锚定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真问题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，以维度比较解析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模糊概念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3" name="组合 2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dk2">
                  <a:lumMod val="60000"/>
                  <a:lumOff val="40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dk2">
                  <a:lumMod val="75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03358E"/>
                  </a:gs>
                  <a:gs pos="100000">
                    <a:srgbClr val="03358E">
                      <a:lumMod val="40000"/>
                      <a:lumOff val="6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36"/>
            <p:cNvSpPr txBox="1"/>
            <p:nvPr/>
          </p:nvSpPr>
          <p:spPr>
            <a:xfrm>
              <a:off x="1163452" y="260648"/>
              <a:ext cx="1915160" cy="499110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zh-CN" altLang="en-US" sz="2800" b="1" dirty="0">
                  <a:solidFill>
                    <a:schemeClr val="dk2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启示与思考</a:t>
              </a:r>
            </a:p>
          </p:txBody>
        </p:sp>
      </p:grpSp>
      <p:sp>
        <p:nvSpPr>
          <p:cNvPr id="38" name="椭圆 37"/>
          <p:cNvSpPr/>
          <p:nvPr>
            <p:custDataLst>
              <p:tags r:id="rId1"/>
            </p:custDataLst>
          </p:nvPr>
        </p:nvSpPr>
        <p:spPr>
          <a:xfrm>
            <a:off x="1247775" y="2085975"/>
            <a:ext cx="688975" cy="68897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kern="1200">
                <a:solidFill>
                  <a:srgbClr val="FFFFFF"/>
                </a:solidFill>
                <a:effectLst/>
                <a:latin typeface="+mn-ea"/>
                <a:cs typeface="+mn-ea"/>
                <a:sym typeface="+mn-ea"/>
              </a:rPr>
              <a:t>01</a:t>
            </a:r>
          </a:p>
        </p:txBody>
      </p:sp>
      <p:sp>
        <p:nvSpPr>
          <p:cNvPr id="39" name="椭圆 38"/>
          <p:cNvSpPr/>
          <p:nvPr>
            <p:custDataLst>
              <p:tags r:id="rId2"/>
            </p:custDataLst>
          </p:nvPr>
        </p:nvSpPr>
        <p:spPr>
          <a:xfrm>
            <a:off x="1247775" y="4101466"/>
            <a:ext cx="688975" cy="688975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kern="1200">
                <a:solidFill>
                  <a:srgbClr val="FFFFFF"/>
                </a:solidFill>
                <a:effectLst/>
                <a:latin typeface="+mn-ea"/>
                <a:cs typeface="+mn-ea"/>
                <a:sym typeface="+mn-ea"/>
              </a:rPr>
              <a:t>02</a:t>
            </a:r>
          </a:p>
        </p:txBody>
      </p:sp>
      <p:sp>
        <p:nvSpPr>
          <p:cNvPr id="40" name="矩形 39"/>
          <p:cNvSpPr/>
          <p:nvPr>
            <p:custDataLst>
              <p:tags r:id="rId3"/>
            </p:custDataLst>
          </p:nvPr>
        </p:nvSpPr>
        <p:spPr bwMode="auto">
          <a:xfrm>
            <a:off x="2165350" y="2204720"/>
            <a:ext cx="8383905" cy="6070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Autofit/>
          </a:bodyPr>
          <a:lstStyle/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2000" b="1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案例选择的“典型性与时效性”：聚焦“真问题”而非“伪命题”</a:t>
            </a:r>
            <a:endParaRPr lang="zh-CN" altLang="en-US" sz="2000" b="1">
              <a:solidFill>
                <a:schemeClr val="accen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2000" b="1">
                <a:solidFill>
                  <a:schemeClr val="accent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</a:p>
        </p:txBody>
      </p:sp>
      <p:sp>
        <p:nvSpPr>
          <p:cNvPr id="41" name="矩形 40"/>
          <p:cNvSpPr/>
          <p:nvPr>
            <p:custDataLst>
              <p:tags r:id="rId4"/>
            </p:custDataLst>
          </p:nvPr>
        </p:nvSpPr>
        <p:spPr>
          <a:xfrm>
            <a:off x="2272030" y="2636520"/>
            <a:ext cx="8672830" cy="114300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indent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     </a:t>
            </a:r>
            <a:r>
              <a:rPr lang="zh-CN" altLang="en-US" dirty="0">
                <a:ln>
                  <a:noFill/>
                  <a:prstDash val="sysDot"/>
                </a:ln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供给侧改革是新时代具有代表性的“模糊性任务”，紧扣中国经济转型的现实需求（从高速增长到高质量发展）。未来我们在选择研究对象时，需优先关注国家治理中的核心、现实矛盾，同时选择典型案例进行分析，确保研究具有“现实关怀”。</a:t>
            </a:r>
          </a:p>
        </p:txBody>
      </p:sp>
      <p:sp>
        <p:nvSpPr>
          <p:cNvPr id="42" name="矩形 41"/>
          <p:cNvSpPr/>
          <p:nvPr>
            <p:custDataLst>
              <p:tags r:id="rId5"/>
            </p:custDataLst>
          </p:nvPr>
        </p:nvSpPr>
        <p:spPr bwMode="auto">
          <a:xfrm>
            <a:off x="2207260" y="4020821"/>
            <a:ext cx="8383905" cy="6070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Autofit/>
          </a:bodyPr>
          <a:lstStyle/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2000" b="1" dirty="0">
                <a:solidFill>
                  <a:schemeClr val="accent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比较分析的“维度化设计”：让“模糊问题”清晰化</a:t>
            </a:r>
          </a:p>
        </p:txBody>
      </p:sp>
      <p:sp>
        <p:nvSpPr>
          <p:cNvPr id="43" name="矩形 42"/>
          <p:cNvSpPr/>
          <p:nvPr>
            <p:custDataLst>
              <p:tags r:id="rId6"/>
            </p:custDataLst>
          </p:nvPr>
        </p:nvSpPr>
        <p:spPr>
          <a:xfrm>
            <a:off x="2159000" y="4725035"/>
            <a:ext cx="8785860" cy="114300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indent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     </a:t>
            </a:r>
            <a:r>
              <a:rPr lang="zh-CN" altLang="en-US" dirty="0">
                <a:ln>
                  <a:noFill/>
                  <a:prstDash val="sysDot"/>
                </a:ln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论文</a:t>
            </a:r>
            <a:r>
              <a:rPr lang="zh-CN" altLang="en-US" dirty="0">
                <a:ln>
                  <a:noFill/>
                  <a:prstDash val="sysDot"/>
                </a:ln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通过“确定性治理vs模糊性治理”的对比，从“目标设定、检查验收、激励分配”三个维度拆解差异，这种“维度化比较”让“模糊性治理”这一抽象概念变得更清晰、可理解。这启示我们：面对“抽象议题”时，可通过“核心维度拆解”降低研究复杂度。</a:t>
            </a:r>
            <a:endParaRPr lang="zh-CN" altLang="en-US" dirty="0">
              <a:ln>
                <a:noFill/>
                <a:prstDash val="sysDot"/>
              </a:ln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indent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ln>
                <a:noFill/>
                <a:prstDash val="sysDot"/>
              </a:ln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585595" y="2853055"/>
            <a:ext cx="6985" cy="119634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内容占位符 1"/>
          <p:cNvSpPr txBox="1"/>
          <p:nvPr/>
        </p:nvSpPr>
        <p:spPr>
          <a:xfrm>
            <a:off x="439420" y="1427480"/>
            <a:ext cx="10974705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二、学术思维：问题意识生成与研究逻辑链搭建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3" name="组合 2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dk2">
                  <a:lumMod val="60000"/>
                  <a:lumOff val="40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dk2">
                  <a:lumMod val="75000"/>
                </a:schemeClr>
              </a:solidFill>
              <a:ln>
                <a:solidFill>
                  <a:schemeClr val="l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" name="直接连接符 3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03358E"/>
                  </a:gs>
                  <a:gs pos="100000">
                    <a:srgbClr val="03358E">
                      <a:lumMod val="40000"/>
                      <a:lumOff val="6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36"/>
            <p:cNvSpPr txBox="1"/>
            <p:nvPr/>
          </p:nvSpPr>
          <p:spPr>
            <a:xfrm>
              <a:off x="1163452" y="260648"/>
              <a:ext cx="1915160" cy="499110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zh-CN" altLang="en-US" sz="2800" b="1" dirty="0">
                  <a:solidFill>
                    <a:schemeClr val="dk2">
                      <a:lumMod val="10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启示与思考</a:t>
              </a:r>
            </a:p>
          </p:txBody>
        </p:sp>
      </p:grpSp>
      <p:sp>
        <p:nvSpPr>
          <p:cNvPr id="38" name="椭圆 37"/>
          <p:cNvSpPr/>
          <p:nvPr>
            <p:custDataLst>
              <p:tags r:id="rId1"/>
            </p:custDataLst>
          </p:nvPr>
        </p:nvSpPr>
        <p:spPr>
          <a:xfrm>
            <a:off x="1247775" y="2085975"/>
            <a:ext cx="688975" cy="68897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kern="1200">
                <a:solidFill>
                  <a:srgbClr val="FFFFFF"/>
                </a:solidFill>
                <a:effectLst/>
                <a:latin typeface="+mn-ea"/>
                <a:cs typeface="+mn-ea"/>
                <a:sym typeface="+mn-ea"/>
              </a:rPr>
              <a:t>03</a:t>
            </a:r>
          </a:p>
        </p:txBody>
      </p:sp>
      <p:sp>
        <p:nvSpPr>
          <p:cNvPr id="39" name="椭圆 38"/>
          <p:cNvSpPr/>
          <p:nvPr>
            <p:custDataLst>
              <p:tags r:id="rId2"/>
            </p:custDataLst>
          </p:nvPr>
        </p:nvSpPr>
        <p:spPr>
          <a:xfrm>
            <a:off x="1247775" y="4076701"/>
            <a:ext cx="688975" cy="688975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kern="1200">
                <a:solidFill>
                  <a:srgbClr val="FFFFFF"/>
                </a:solidFill>
                <a:effectLst/>
                <a:latin typeface="+mn-ea"/>
                <a:cs typeface="+mn-ea"/>
                <a:sym typeface="+mn-ea"/>
              </a:rPr>
              <a:t>04</a:t>
            </a:r>
          </a:p>
        </p:txBody>
      </p:sp>
      <p:sp>
        <p:nvSpPr>
          <p:cNvPr id="40" name="矩形 39"/>
          <p:cNvSpPr/>
          <p:nvPr>
            <p:custDataLst>
              <p:tags r:id="rId3"/>
            </p:custDataLst>
          </p:nvPr>
        </p:nvSpPr>
        <p:spPr bwMode="auto">
          <a:xfrm>
            <a:off x="2207260" y="2186305"/>
            <a:ext cx="8383905" cy="6070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Autofit/>
          </a:bodyPr>
          <a:lstStyle/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2000" b="1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问题意识：从“理论空白”到“实践矛盾”</a:t>
            </a:r>
            <a:endParaRPr lang="zh-CN" altLang="en-US" sz="2000" b="1">
              <a:solidFill>
                <a:schemeClr val="accen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2000" b="1">
                <a:solidFill>
                  <a:schemeClr val="accent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</a:p>
        </p:txBody>
      </p:sp>
      <p:sp>
        <p:nvSpPr>
          <p:cNvPr id="41" name="矩形 40"/>
          <p:cNvSpPr/>
          <p:nvPr>
            <p:custDataLst>
              <p:tags r:id="rId4"/>
            </p:custDataLst>
          </p:nvPr>
        </p:nvSpPr>
        <p:spPr>
          <a:xfrm>
            <a:off x="1856105" y="2636520"/>
            <a:ext cx="8735060" cy="114300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indent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     </a:t>
            </a:r>
            <a:r>
              <a:rPr lang="zh-CN" altLang="en-US" dirty="0">
                <a:ln>
                  <a:noFill/>
                  <a:prstDash val="sysDot"/>
                </a:ln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论文的核心问题（“无量化指标下中央如何推动地方完成模糊性任务”）并非来自“理论推演”，而是源于“实践矛盾”。这启示我们：好的研究问题应“扎根实践痛点”，问题意识的培养需“长期跟踪政策实践”。</a:t>
            </a:r>
          </a:p>
        </p:txBody>
      </p:sp>
      <p:sp>
        <p:nvSpPr>
          <p:cNvPr id="42" name="矩形 41"/>
          <p:cNvSpPr/>
          <p:nvPr>
            <p:custDataLst>
              <p:tags r:id="rId5"/>
            </p:custDataLst>
          </p:nvPr>
        </p:nvSpPr>
        <p:spPr bwMode="auto">
          <a:xfrm>
            <a:off x="2209800" y="4004946"/>
            <a:ext cx="8383905" cy="6070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Autofit/>
          </a:bodyPr>
          <a:lstStyle/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000" b="1" dirty="0">
                <a:solidFill>
                  <a:schemeClr val="accent2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 sz="2000" b="1" dirty="0">
                <a:solidFill>
                  <a:schemeClr val="accent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搭建</a:t>
            </a:r>
            <a:r>
              <a:rPr lang="en-US" altLang="zh-CN" sz="2000" b="1" dirty="0">
                <a:solidFill>
                  <a:schemeClr val="accent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2000" b="1" dirty="0">
                <a:solidFill>
                  <a:schemeClr val="accent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微观案例</a:t>
            </a:r>
            <a:r>
              <a:rPr lang="en-US" altLang="zh-CN" sz="2000" b="1" dirty="0">
                <a:solidFill>
                  <a:schemeClr val="accent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- </a:t>
            </a:r>
            <a:r>
              <a:rPr lang="zh-CN" altLang="en-US" sz="2000" b="1" dirty="0">
                <a:solidFill>
                  <a:schemeClr val="accent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中观机制</a:t>
            </a:r>
            <a:r>
              <a:rPr lang="en-US" altLang="zh-CN" sz="2000" b="1" dirty="0">
                <a:solidFill>
                  <a:schemeClr val="accent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- </a:t>
            </a:r>
            <a:r>
              <a:rPr lang="zh-CN" altLang="en-US" sz="2000" b="1" dirty="0">
                <a:solidFill>
                  <a:schemeClr val="accent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宏观议题</a:t>
            </a:r>
            <a:r>
              <a:rPr lang="en-US" altLang="zh-CN" sz="2000" b="1" dirty="0">
                <a:solidFill>
                  <a:schemeClr val="accent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 </a:t>
            </a:r>
            <a:r>
              <a:rPr lang="zh-CN" altLang="en-US" sz="2000" b="1">
                <a:solidFill>
                  <a:schemeClr val="accent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逻辑链</a:t>
            </a:r>
            <a:endParaRPr lang="zh-CN" altLang="en-US" sz="2000" b="1" dirty="0">
              <a:solidFill>
                <a:schemeClr val="accent2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3" name="矩形 42"/>
          <p:cNvSpPr/>
          <p:nvPr>
            <p:custDataLst>
              <p:tags r:id="rId6"/>
            </p:custDataLst>
          </p:nvPr>
        </p:nvSpPr>
        <p:spPr>
          <a:xfrm>
            <a:off x="1919605" y="4718050"/>
            <a:ext cx="8733155" cy="114300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indent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     </a:t>
            </a:r>
            <a:r>
              <a:rPr lang="zh-CN" altLang="en-US" dirty="0">
                <a:ln>
                  <a:noFill/>
                  <a:prstDash val="sysDot"/>
                </a:ln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先选取与研究主题高度契合的典型案例，拆解案例关键运作维度；再从案例细节中提炼中层机制，确保机制能覆盖案例核心特征且可解释宏观议题；最后以机制为中介推导结论，使宏观结论成为机制运作的结果，避免实证与理论脱节。</a:t>
            </a:r>
          </a:p>
        </p:txBody>
      </p:sp>
      <p:cxnSp>
        <p:nvCxnSpPr>
          <p:cNvPr id="8" name="直接连接符 7"/>
          <p:cNvCxnSpPr>
            <a:endCxn id="39" idx="0"/>
          </p:cNvCxnSpPr>
          <p:nvPr/>
        </p:nvCxnSpPr>
        <p:spPr>
          <a:xfrm flipH="1">
            <a:off x="1592580" y="2879725"/>
            <a:ext cx="1905" cy="1196975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25964" y="-38146"/>
            <a:ext cx="12243928" cy="6984776"/>
          </a:xfrm>
          <a:prstGeom prst="rect">
            <a:avLst/>
          </a:prstGeom>
          <a:solidFill>
            <a:schemeClr val="dk2">
              <a:lumMod val="10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/>
        </p:nvCxnSpPr>
        <p:spPr>
          <a:xfrm>
            <a:off x="4943996" y="6612668"/>
            <a:ext cx="323469" cy="0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</a:ln>
          <a:effectLst/>
        </p:spPr>
      </p:cxnSp>
      <p:cxnSp>
        <p:nvCxnSpPr>
          <p:cNvPr id="12" name="直接连接符 11"/>
          <p:cNvCxnSpPr/>
          <p:nvPr/>
        </p:nvCxnSpPr>
        <p:spPr>
          <a:xfrm>
            <a:off x="6888781" y="6593387"/>
            <a:ext cx="323469" cy="0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</a:ln>
          <a:effectLst/>
        </p:spPr>
      </p:cxn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623392" y="3013926"/>
            <a:ext cx="1156860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80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汇报结束 感谢聆听</a:t>
            </a:r>
            <a:r>
              <a:rPr kumimoji="0" lang="zh-CN" altLang="en-US" sz="8000" b="1" i="1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619185" y="4500571"/>
            <a:ext cx="8659688" cy="0"/>
          </a:xfrm>
          <a:prstGeom prst="line">
            <a:avLst/>
          </a:prstGeom>
          <a:noFill/>
          <a:ln w="28575" cap="flat" cmpd="sng" algn="ctr">
            <a:solidFill>
              <a:srgbClr val="FFFFFF"/>
            </a:solidFill>
            <a:prstDash val="solid"/>
          </a:ln>
          <a:effectLst/>
        </p:spPr>
      </p:cxnSp>
      <p:sp>
        <p:nvSpPr>
          <p:cNvPr id="20" name="矩形 19"/>
          <p:cNvSpPr/>
          <p:nvPr/>
        </p:nvSpPr>
        <p:spPr>
          <a:xfrm>
            <a:off x="1619184" y="4705399"/>
            <a:ext cx="86596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lt1">
                    <a:lumMod val="100000"/>
                  </a:schemeClr>
                </a:solidFill>
                <a:effectLst/>
                <a:uLnTx/>
                <a:uFillTx/>
              </a:rPr>
              <a:t>THANKS FOR YOUR LISTENING!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1115" y="6295390"/>
            <a:ext cx="420560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chemeClr val="lt1">
                    <a:lumMod val="100000"/>
                  </a:schemeClr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求实求真 大气大为</a:t>
            </a:r>
            <a:endParaRPr lang="zh-CN" altLang="en-US" sz="2800" dirty="0">
              <a:solidFill>
                <a:schemeClr val="lt1">
                  <a:lumMod val="100000"/>
                </a:schemeClr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990" y="1310110"/>
            <a:ext cx="5640020" cy="139657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267325" y="6449060"/>
            <a:ext cx="1798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lt1">
                    <a:lumMod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r>
              <a:rPr lang="zh-CN" altLang="en-US" b="1" dirty="0">
                <a:solidFill>
                  <a:schemeClr val="lt1">
                    <a:lumMod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b="1" dirty="0">
                <a:solidFill>
                  <a:schemeClr val="lt1">
                    <a:lumMod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zh-CN" altLang="en-US" b="1" dirty="0">
                <a:solidFill>
                  <a:schemeClr val="lt1">
                    <a:lumMod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月</a:t>
            </a:r>
            <a:r>
              <a:rPr lang="en-US" altLang="zh-CN" b="1" dirty="0">
                <a:solidFill>
                  <a:schemeClr val="lt1">
                    <a:lumMod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chemeClr val="lt1">
                    <a:lumMod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03d5ca3e-1808-4f1b-8b81-b5fa0e02df67&quot;,&quot;Name&quot;:null,&quot;Kind&quot;:1,&quot;OldGuidesSetting&quot;:{&quot;HeaderHeight&quot;:0.0,&quot;FooterHeight&quot;:0.0,&quot;SideMargin&quot;:0.0,&quot;TopMargin&quot;:0.0,&quot;BottomMargin&quot;:0.0,&quot;IntervalMargin&quot;:0.0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.11960629921253,&quot;left&quot;:134.4499212598425,&quot;top&quot;:139.58228346456696,&quot;width&quot;:665.814645669291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.11960629921253,&quot;left&quot;:134.4499212598425,&quot;top&quot;:139.58228346456696,&quot;width&quot;:665.814645669291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.11960629921253,&quot;left&quot;:134.4499212598425,&quot;top&quot;:139.58228346456696,&quot;width&quot;:665.814645669291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.11960629921253,&quot;left&quot;:134.4499212598425,&quot;top&quot;:139.58228346456696,&quot;width&quot;:665.814645669291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.11960629921253,&quot;left&quot;:134.4499212598425,&quot;top&quot;:139.58228346456696,&quot;width&quot;:665.814645669291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.11960629921253,&quot;left&quot;:134.4499212598425,&quot;top&quot;:139.58228346456696,&quot;width&quot;:665.814645669291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.11960629921253,&quot;left&quot;:134.4499212598425,&quot;top&quot;:139.58228346456696,&quot;width&quot;:665.814645669291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.11960629921253,&quot;left&quot;:134.4499212598425,&quot;top&quot;:139.58228346456696,&quot;width&quot;:665.814645669291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.11960629921253,&quot;left&quot;:134.4499212598425,&quot;top&quot;:139.58228346456696,&quot;width&quot;:665.814645669291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71283536961346,&quot;left&quot;:19.05,&quot;top&quot;:104.2,&quot;width&quot;:885.9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71283536961346,&quot;left&quot;:19.05,&quot;top&quot;:104.2,&quot;width&quot;:885.9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71283536961346,&quot;left&quot;:19.05,&quot;top&quot;:104.2,&quot;width&quot;:885.9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03732283464564,&quot;left&quot;:81.18606299212598,&quot;top&quot;:298.34181102362203,&quot;width&quot;:761.621102362204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25818897637794,&quot;left&quot;:56.98606299212598,&quot;top&quot;:166.69181102362205,&quot;width&quot;:829.31393700787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8.03732283464564,&quot;left&quot;:81.18606299212598,&quot;top&quot;:298.34181102362203,&quot;width&quot;:761.621102362204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25818897637794,&quot;left&quot;:56.98606299212598,&quot;top&quot;:166.69181102362205,&quot;width&quot;:829.31393700787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25818897637794,&quot;left&quot;:56.98606299212598,&quot;top&quot;:166.69181102362205,&quot;width&quot;:829.31393700787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25818897637794,&quot;left&quot;:56.98606299212598,&quot;top&quot;:166.69181102362205,&quot;width&quot;:829.31393700787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25818897637794,&quot;left&quot;:56.98606299212598,&quot;top&quot;:166.69181102362205,&quot;width&quot;:829.31393700787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25818897637794,&quot;left&quot;:56.98606299212598,&quot;top&quot;:166.69181102362205,&quot;width&quot;:829.31393700787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25818897637794,&quot;left&quot;:56.98606299212598,&quot;top&quot;:166.69181102362205,&quot;width&quot;:829.31393700787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25818897637794,&quot;left&quot;:56.98606299212598,&quot;top&quot;:166.69181102362205,&quot;width&quot;:829.31393700787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25818897637794,&quot;left&quot;:56.98606299212598,&quot;top&quot;:166.69181102362205,&quot;width&quot;:829.31393700787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25818897637794,&quot;left&quot;:56.98606299212598,&quot;top&quot;:166.69181102362205,&quot;width&quot;:829.31393700787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0.2092913385826,&quot;left&quot;:82.5,&quot;top&quot;:128.25,&quot;width&quot;:824.3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9*372"/>
  <p:tag name="TABLE_ENDDRAG_RECT" val="32*94*899*37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9*372"/>
  <p:tag name="TABLE_ENDDRAG_RECT" val="32*94*899*37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MPATIBLE" val="0"/>
  <p:tag name="KSO_WM_UNIT_DIAGRAM_ISREFERUNIT" val="0"/>
  <p:tag name="KSO_WM_UNIT_TYPE" val="l_h_i"/>
  <p:tag name="KSO_WM_TEMPLATE_INDEX" val="20231873"/>
  <p:tag name="KSO_WM_TAG_VERSION" val="3.0"/>
  <p:tag name="KSO_WM_DIAGRAM_COLOR_TRICK" val="1"/>
  <p:tag name="KSO_WM_DIAGRAM_MAX_ITEMCNT" val="5"/>
  <p:tag name="KSO_WM_DIAGRAM_VIRTUALLY_FRAME" val="{&quot;height&quot;:387.45001220703125,&quot;left&quot;:95.85000610351562,&quot;top&quot;:134.92499389648438,&quot;width&quot;:775.5499938964844}"/>
  <p:tag name="KSO_WM_BEAUTIFY_FLAG" val="#wm#"/>
  <p:tag name="KSO_WM_UNIT_HIGHLIGHT" val="0"/>
  <p:tag name="KSO_WM_UNIT_DIAGRAM_ISNUMVISUAL" val="0"/>
  <p:tag name="KSO_WM_DIAGRAM_GROUP_CODE" val="l1-1"/>
  <p:tag name="KSO_WM_UNIT_SUBTYPE" val="d"/>
  <p:tag name="KSO_WM_UNIT_INDEX" val="1_1_1"/>
  <p:tag name="KSO_WM_UNIT_ID" val="diagram20231873_1*l_h_i*1_1_1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MPATIBLE" val="0"/>
  <p:tag name="KSO_WM_UNIT_DIAGRAM_ISREFERUNIT" val="0"/>
  <p:tag name="KSO_WM_UNIT_TYPE" val="l_h_i"/>
  <p:tag name="KSO_WM_TEMPLATE_INDEX" val="20231873"/>
  <p:tag name="KSO_WM_TAG_VERSION" val="3.0"/>
  <p:tag name="KSO_WM_DIAGRAM_COLOR_TRICK" val="1"/>
  <p:tag name="KSO_WM_DIAGRAM_MAX_ITEMCNT" val="5"/>
  <p:tag name="KSO_WM_DIAGRAM_VIRTUALLY_FRAME" val="{&quot;height&quot;:387.45001220703125,&quot;left&quot;:95.85000610351562,&quot;top&quot;:134.92499389648438,&quot;width&quot;:775.5499938964844}"/>
  <p:tag name="KSO_WM_BEAUTIFY_FLAG" val="#wm#"/>
  <p:tag name="KSO_WM_UNIT_HIGHLIGHT" val="0"/>
  <p:tag name="KSO_WM_UNIT_DIAGRAM_ISNUMVISUAL" val="0"/>
  <p:tag name="KSO_WM_DIAGRAM_GROUP_CODE" val="l1-1"/>
  <p:tag name="KSO_WM_UNIT_SUBTYPE" val="d"/>
  <p:tag name="KSO_WM_UNIT_INDEX" val="1_2_1"/>
  <p:tag name="KSO_WM_UNIT_ID" val="diagram20231873_1*l_h_i*1_2_1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873_1*l_h_a*1_1_1"/>
  <p:tag name="KSO_WM_TEMPLATE_CATEGORY" val="diagram"/>
  <p:tag name="KSO_WM_TEMPLATE_INDEX" val="2023187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25"/>
  <p:tag name="KSO_WM_DIAGRAM_MAX_ITEMCNT" val="5"/>
  <p:tag name="KSO_WM_DIAGRAM_MIN_ITEMCNT" val="2"/>
  <p:tag name="KSO_WM_DIAGRAM_VIRTUALLY_FRAME" val="{&quot;height&quot;:387.45001220703125,&quot;left&quot;:95.85000610351562,&quot;top&quot;:134.92499389648438,&quot;width&quot;:775.5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单击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873_1*l_h_f*1_1_1"/>
  <p:tag name="KSO_WM_TEMPLATE_CATEGORY" val="diagram"/>
  <p:tag name="KSO_WM_TEMPLATE_INDEX" val="2023187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111"/>
  <p:tag name="KSO_WM_DIAGRAM_MAX_ITEMCNT" val="5"/>
  <p:tag name="KSO_WM_DIAGRAM_MIN_ITEMCNT" val="2"/>
  <p:tag name="KSO_WM_DIAGRAM_VIRTUALLY_FRAME" val="{&quot;height&quot;:387.45001220703125,&quot;left&quot;:95.85000610351562,&quot;top&quot;:134.92499389648438,&quot;width&quot;:775.5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思想的提炼，请尽量言简意赅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873_1*l_h_a*1_2_1"/>
  <p:tag name="KSO_WM_TEMPLATE_CATEGORY" val="diagram"/>
  <p:tag name="KSO_WM_TEMPLATE_INDEX" val="2023187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25"/>
  <p:tag name="KSO_WM_DIAGRAM_MAX_ITEMCNT" val="5"/>
  <p:tag name="KSO_WM_DIAGRAM_MIN_ITEMCNT" val="2"/>
  <p:tag name="KSO_WM_DIAGRAM_VIRTUALLY_FRAME" val="{&quot;height&quot;:387.45001220703125,&quot;left&quot;:95.85000610351562,&quot;top&quot;:134.92499389648438,&quot;width&quot;:775.5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单击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873_1*l_h_f*1_2_1"/>
  <p:tag name="KSO_WM_TEMPLATE_CATEGORY" val="diagram"/>
  <p:tag name="KSO_WM_TEMPLATE_INDEX" val="2023187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74"/>
  <p:tag name="KSO_WM_DIAGRAM_MAX_ITEMCNT" val="5"/>
  <p:tag name="KSO_WM_DIAGRAM_MIN_ITEMCNT" val="2"/>
  <p:tag name="KSO_WM_DIAGRAM_VIRTUALLY_FRAME" val="{&quot;height&quot;:387.45001220703125,&quot;left&quot;:95.85000610351562,&quot;top&quot;:134.92499389648438,&quot;width&quot;:775.5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思想的提炼，请尽量言简意赅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MPATIBLE" val="0"/>
  <p:tag name="KSO_WM_UNIT_DIAGRAM_ISREFERUNIT" val="0"/>
  <p:tag name="KSO_WM_UNIT_TYPE" val="l_h_i"/>
  <p:tag name="KSO_WM_TEMPLATE_INDEX" val="20231873"/>
  <p:tag name="KSO_WM_TAG_VERSION" val="3.0"/>
  <p:tag name="KSO_WM_DIAGRAM_COLOR_TRICK" val="1"/>
  <p:tag name="KSO_WM_DIAGRAM_MAX_ITEMCNT" val="5"/>
  <p:tag name="KSO_WM_DIAGRAM_VIRTUALLY_FRAME" val="{&quot;height&quot;:387.45001220703125,&quot;left&quot;:95.85000610351562,&quot;top&quot;:134.92499389648438,&quot;width&quot;:768.2999877929688}"/>
  <p:tag name="KSO_WM_BEAUTIFY_FLAG" val="#wm#"/>
  <p:tag name="KSO_WM_UNIT_HIGHLIGHT" val="0"/>
  <p:tag name="KSO_WM_UNIT_DIAGRAM_ISNUMVISUAL" val="0"/>
  <p:tag name="KSO_WM_DIAGRAM_GROUP_CODE" val="l1-1"/>
  <p:tag name="KSO_WM_UNIT_SUBTYPE" val="d"/>
  <p:tag name="KSO_WM_UNIT_INDEX" val="1_1_1"/>
  <p:tag name="KSO_WM_UNIT_ID" val="diagram20231873_1*l_h_i*1_1_1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MPATIBLE" val="0"/>
  <p:tag name="KSO_WM_UNIT_DIAGRAM_ISREFERUNIT" val="0"/>
  <p:tag name="KSO_WM_UNIT_TYPE" val="l_h_i"/>
  <p:tag name="KSO_WM_TEMPLATE_INDEX" val="20231873"/>
  <p:tag name="KSO_WM_TAG_VERSION" val="3.0"/>
  <p:tag name="KSO_WM_DIAGRAM_COLOR_TRICK" val="1"/>
  <p:tag name="KSO_WM_DIAGRAM_MAX_ITEMCNT" val="5"/>
  <p:tag name="KSO_WM_DIAGRAM_VIRTUALLY_FRAME" val="{&quot;height&quot;:387.45001220703125,&quot;left&quot;:95.85000610351562,&quot;top&quot;:134.92499389648438,&quot;width&quot;:768.2999877929688}"/>
  <p:tag name="KSO_WM_BEAUTIFY_FLAG" val="#wm#"/>
  <p:tag name="KSO_WM_UNIT_HIGHLIGHT" val="0"/>
  <p:tag name="KSO_WM_UNIT_DIAGRAM_ISNUMVISUAL" val="0"/>
  <p:tag name="KSO_WM_DIAGRAM_GROUP_CODE" val="l1-1"/>
  <p:tag name="KSO_WM_UNIT_SUBTYPE" val="d"/>
  <p:tag name="KSO_WM_UNIT_INDEX" val="1_2_1"/>
  <p:tag name="KSO_WM_UNIT_ID" val="diagram20231873_1*l_h_i*1_2_1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873_1*l_h_a*1_1_1"/>
  <p:tag name="KSO_WM_TEMPLATE_CATEGORY" val="diagram"/>
  <p:tag name="KSO_WM_TEMPLATE_INDEX" val="2023187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25"/>
  <p:tag name="KSO_WM_DIAGRAM_MAX_ITEMCNT" val="5"/>
  <p:tag name="KSO_WM_DIAGRAM_MIN_ITEMCNT" val="2"/>
  <p:tag name="KSO_WM_DIAGRAM_VIRTUALLY_FRAME" val="{&quot;height&quot;:387.45001220703125,&quot;left&quot;:95.85000610351562,&quot;top&quot;:134.92499389648438,&quot;width&quot;:768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单击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873_1*l_h_f*1_1_1"/>
  <p:tag name="KSO_WM_TEMPLATE_CATEGORY" val="diagram"/>
  <p:tag name="KSO_WM_TEMPLATE_INDEX" val="2023187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111"/>
  <p:tag name="KSO_WM_DIAGRAM_MAX_ITEMCNT" val="5"/>
  <p:tag name="KSO_WM_DIAGRAM_MIN_ITEMCNT" val="2"/>
  <p:tag name="KSO_WM_DIAGRAM_VIRTUALLY_FRAME" val="{&quot;height&quot;:387.45001220703125,&quot;left&quot;:95.85000610351562,&quot;top&quot;:134.92499389648438,&quot;width&quot;:768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思想的提炼，请尽量言简意赅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873_1*l_h_a*1_2_1"/>
  <p:tag name="KSO_WM_TEMPLATE_CATEGORY" val="diagram"/>
  <p:tag name="KSO_WM_TEMPLATE_INDEX" val="2023187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25"/>
  <p:tag name="KSO_WM_DIAGRAM_MAX_ITEMCNT" val="5"/>
  <p:tag name="KSO_WM_DIAGRAM_MIN_ITEMCNT" val="2"/>
  <p:tag name="KSO_WM_DIAGRAM_VIRTUALLY_FRAME" val="{&quot;height&quot;:387.45001220703125,&quot;left&quot;:95.85000610351562,&quot;top&quot;:134.92499389648438,&quot;width&quot;:768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单击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873_1*l_h_f*1_2_1"/>
  <p:tag name="KSO_WM_TEMPLATE_CATEGORY" val="diagram"/>
  <p:tag name="KSO_WM_TEMPLATE_INDEX" val="2023187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74"/>
  <p:tag name="KSO_WM_DIAGRAM_MAX_ITEMCNT" val="5"/>
  <p:tag name="KSO_WM_DIAGRAM_MIN_ITEMCNT" val="2"/>
  <p:tag name="KSO_WM_DIAGRAM_VIRTUALLY_FRAME" val="{&quot;height&quot;:387.45001220703125,&quot;left&quot;:95.85000610351562,&quot;top&quot;:134.92499389648438,&quot;width&quot;:768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思想的提炼，请尽量言简意赅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MPATIBLE" val="0"/>
  <p:tag name="KSO_WM_UNIT_DIAGRAM_ISREFERUNIT" val="0"/>
  <p:tag name="KSO_WM_UNIT_TYPE" val="l_h_i"/>
  <p:tag name="KSO_WM_TEMPLATE_INDEX" val="20231873"/>
  <p:tag name="KSO_WM_TAG_VERSION" val="3.0"/>
  <p:tag name="KSO_WM_DIAGRAM_COLOR_TRICK" val="1"/>
  <p:tag name="KSO_WM_DIAGRAM_MAX_ITEMCNT" val="5"/>
  <p:tag name="KSO_WM_DIAGRAM_VIRTUALLY_FRAME" val="{&quot;height&quot;:387.45001220703125,&quot;left&quot;:95.85000610351562,&quot;top&quot;:134.92499389648438,&quot;width&quot;:772.0999938964844}"/>
  <p:tag name="KSO_WM_BEAUTIFY_FLAG" val="#wm#"/>
  <p:tag name="KSO_WM_UNIT_HIGHLIGHT" val="0"/>
  <p:tag name="KSO_WM_UNIT_DIAGRAM_ISNUMVISUAL" val="0"/>
  <p:tag name="KSO_WM_DIAGRAM_GROUP_CODE" val="l1-1"/>
  <p:tag name="KSO_WM_UNIT_SUBTYPE" val="d"/>
  <p:tag name="KSO_WM_UNIT_INDEX" val="1_1_1"/>
  <p:tag name="KSO_WM_UNIT_ID" val="diagram20231873_1*l_h_i*1_1_1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MPATIBLE" val="0"/>
  <p:tag name="KSO_WM_UNIT_DIAGRAM_ISREFERUNIT" val="0"/>
  <p:tag name="KSO_WM_UNIT_TYPE" val="l_h_i"/>
  <p:tag name="KSO_WM_TEMPLATE_INDEX" val="20231873"/>
  <p:tag name="KSO_WM_TAG_VERSION" val="3.0"/>
  <p:tag name="KSO_WM_DIAGRAM_COLOR_TRICK" val="1"/>
  <p:tag name="KSO_WM_DIAGRAM_MAX_ITEMCNT" val="5"/>
  <p:tag name="KSO_WM_DIAGRAM_VIRTUALLY_FRAME" val="{&quot;height&quot;:387.45001220703125,&quot;left&quot;:95.85000610351562,&quot;top&quot;:134.92499389648438,&quot;width&quot;:772.0999938964844}"/>
  <p:tag name="KSO_WM_BEAUTIFY_FLAG" val="#wm#"/>
  <p:tag name="KSO_WM_UNIT_HIGHLIGHT" val="0"/>
  <p:tag name="KSO_WM_UNIT_DIAGRAM_ISNUMVISUAL" val="0"/>
  <p:tag name="KSO_WM_DIAGRAM_GROUP_CODE" val="l1-1"/>
  <p:tag name="KSO_WM_UNIT_SUBTYPE" val="d"/>
  <p:tag name="KSO_WM_UNIT_INDEX" val="1_2_1"/>
  <p:tag name="KSO_WM_UNIT_ID" val="diagram20231873_1*l_h_i*1_2_1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873_1*l_h_a*1_1_1"/>
  <p:tag name="KSO_WM_TEMPLATE_CATEGORY" val="diagram"/>
  <p:tag name="KSO_WM_TEMPLATE_INDEX" val="2023187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25"/>
  <p:tag name="KSO_WM_DIAGRAM_MAX_ITEMCNT" val="5"/>
  <p:tag name="KSO_WM_DIAGRAM_MIN_ITEMCNT" val="2"/>
  <p:tag name="KSO_WM_DIAGRAM_VIRTUALLY_FRAME" val="{&quot;height&quot;:387.45001220703125,&quot;left&quot;:95.85000610351562,&quot;top&quot;:134.92499389648438,&quot;width&quot;:772.09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单击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873_1*l_h_f*1_1_1"/>
  <p:tag name="KSO_WM_TEMPLATE_CATEGORY" val="diagram"/>
  <p:tag name="KSO_WM_TEMPLATE_INDEX" val="2023187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111"/>
  <p:tag name="KSO_WM_DIAGRAM_MAX_ITEMCNT" val="5"/>
  <p:tag name="KSO_WM_DIAGRAM_MIN_ITEMCNT" val="2"/>
  <p:tag name="KSO_WM_DIAGRAM_VIRTUALLY_FRAME" val="{&quot;height&quot;:387.45001220703125,&quot;left&quot;:95.85000610351562,&quot;top&quot;:134.92499389648438,&quot;width&quot;:772.09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思想的提炼，请尽量言简意赅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873_1*l_h_a*1_2_1"/>
  <p:tag name="KSO_WM_TEMPLATE_CATEGORY" val="diagram"/>
  <p:tag name="KSO_WM_TEMPLATE_INDEX" val="2023187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25"/>
  <p:tag name="KSO_WM_DIAGRAM_MAX_ITEMCNT" val="5"/>
  <p:tag name="KSO_WM_DIAGRAM_MIN_ITEMCNT" val="2"/>
  <p:tag name="KSO_WM_DIAGRAM_VIRTUALLY_FRAME" val="{&quot;height&quot;:387.45001220703125,&quot;left&quot;:95.85000610351562,&quot;top&quot;:134.92499389648438,&quot;width&quot;:772.09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单击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873_1*l_h_f*1_2_1"/>
  <p:tag name="KSO_WM_TEMPLATE_CATEGORY" val="diagram"/>
  <p:tag name="KSO_WM_TEMPLATE_INDEX" val="2023187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74"/>
  <p:tag name="KSO_WM_DIAGRAM_MAX_ITEMCNT" val="5"/>
  <p:tag name="KSO_WM_DIAGRAM_MIN_ITEMCNT" val="2"/>
  <p:tag name="KSO_WM_DIAGRAM_VIRTUALLY_FRAME" val="{&quot;height&quot;:387.45001220703125,&quot;left&quot;:95.85000610351562,&quot;top&quot;:134.92499389648438,&quot;width&quot;:772.09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思想的提炼，请尽量言简意赅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2286A"/>
      </a:dk1>
      <a:lt1>
        <a:srgbClr val="FFFFFF"/>
      </a:lt1>
      <a:dk2>
        <a:srgbClr val="03358E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rgbClr val="02286A"/>
      </a:dk1>
      <a:lt1>
        <a:srgbClr val="FFFFFF"/>
      </a:lt1>
      <a:dk2>
        <a:srgbClr val="03358E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  <a:alpha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2286A"/>
    </a:dk1>
    <a:lt1>
      <a:srgbClr val="FFFFFF"/>
    </a:lt1>
    <a:dk2>
      <a:srgbClr val="03358E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2286A"/>
    </a:dk1>
    <a:lt1>
      <a:srgbClr val="FFFFFF"/>
    </a:lt1>
    <a:dk2>
      <a:srgbClr val="03358E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2286A"/>
    </a:dk1>
    <a:lt1>
      <a:srgbClr val="FFFFFF"/>
    </a:lt1>
    <a:dk2>
      <a:srgbClr val="03358E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rgbClr val="02286A"/>
    </a:dk1>
    <a:lt1>
      <a:srgbClr val="FFFFFF"/>
    </a:lt1>
    <a:dk2>
      <a:srgbClr val="03358E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rgbClr val="02286A"/>
    </a:dk1>
    <a:lt1>
      <a:srgbClr val="FFFFFF"/>
    </a:lt1>
    <a:dk2>
      <a:srgbClr val="03358E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rgbClr val="02286A"/>
    </a:dk1>
    <a:lt1>
      <a:srgbClr val="FFFFFF"/>
    </a:lt1>
    <a:dk2>
      <a:srgbClr val="03358E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rgbClr val="02286A"/>
    </a:dk1>
    <a:lt1>
      <a:srgbClr val="FFFFFF"/>
    </a:lt1>
    <a:dk2>
      <a:srgbClr val="03358E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rgbClr val="02286A"/>
    </a:dk1>
    <a:lt1>
      <a:srgbClr val="FFFFFF"/>
    </a:lt1>
    <a:dk2>
      <a:srgbClr val="03358E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rgbClr val="02286A"/>
    </a:dk1>
    <a:lt1>
      <a:srgbClr val="FFFFFF"/>
    </a:lt1>
    <a:dk2>
      <a:srgbClr val="03358E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rgbClr val="02286A"/>
    </a:dk1>
    <a:lt1>
      <a:srgbClr val="FFFFFF"/>
    </a:lt1>
    <a:dk2>
      <a:srgbClr val="03358E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rgbClr val="02286A"/>
    </a:dk1>
    <a:lt1>
      <a:srgbClr val="FFFFFF"/>
    </a:lt1>
    <a:dk2>
      <a:srgbClr val="03358E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rgbClr val="02286A"/>
    </a:dk1>
    <a:lt1>
      <a:srgbClr val="FFFFFF"/>
    </a:lt1>
    <a:dk2>
      <a:srgbClr val="03358E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3319</TotalTime>
  <Words>3911</Words>
  <Application>Microsoft Office PowerPoint</Application>
  <PresentationFormat>宽屏</PresentationFormat>
  <Paragraphs>263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5" baseType="lpstr">
      <vt:lpstr>AvantGarde Md BT</vt:lpstr>
      <vt:lpstr>等线</vt:lpstr>
      <vt:lpstr>黑体</vt:lpstr>
      <vt:lpstr>华文中宋</vt:lpstr>
      <vt:lpstr>隶书</vt:lpstr>
      <vt:lpstr>微软雅黑</vt:lpstr>
      <vt:lpstr>微软雅黑 Light</vt:lpstr>
      <vt:lpstr>Arial</vt:lpstr>
      <vt:lpstr>Calibri</vt:lpstr>
      <vt:lpstr>Impact</vt:lpstr>
      <vt:lpstr>Times New Roman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yc liu</cp:lastModifiedBy>
  <cp:revision>137</cp:revision>
  <dcterms:created xsi:type="dcterms:W3CDTF">2018-11-26T00:51:00Z</dcterms:created>
  <dcterms:modified xsi:type="dcterms:W3CDTF">2025-12-20T05:42:44Z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1B806583E13541AA9AC045AE9530410C_13</vt:lpwstr>
  </property>
  <property fmtid="{D5CDD505-2E9C-101B-9397-08002B2CF9AE}" pid="3" name="KSOProductBuildVer">
    <vt:lpwstr>2052-12.1.0.23125</vt:lpwstr>
  </property>
</Properties>
</file>